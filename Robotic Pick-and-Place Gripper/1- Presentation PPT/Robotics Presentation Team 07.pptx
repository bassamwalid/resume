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678" r:id="rId4"/>
    <p:sldId id="680" r:id="rId5"/>
    <p:sldId id="681" r:id="rId6"/>
    <p:sldId id="684" r:id="rId7"/>
    <p:sldId id="685" r:id="rId8"/>
    <p:sldId id="679" r:id="rId9"/>
    <p:sldId id="686" r:id="rId10"/>
    <p:sldId id="687" r:id="rId11"/>
    <p:sldId id="688" r:id="rId12"/>
    <p:sldId id="682" r:id="rId13"/>
    <p:sldId id="683" r:id="rId14"/>
    <p:sldId id="6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DC1"/>
    <a:srgbClr val="FFFFFF"/>
    <a:srgbClr val="ED1B24"/>
    <a:srgbClr val="008000"/>
    <a:srgbClr val="0000FF"/>
    <a:srgbClr val="04E3FA"/>
    <a:srgbClr val="42E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7" autoAdjust="0"/>
  </p:normalViewPr>
  <p:slideViewPr>
    <p:cSldViewPr>
      <p:cViewPr varScale="1">
        <p:scale>
          <a:sx n="154" d="100"/>
          <a:sy n="154" d="100"/>
        </p:scale>
        <p:origin x="108" y="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2692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A915C-EB5A-47D2-8699-F60260B052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9C2F1-5479-4A1C-850C-67D439F65D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8E427-4D50-49BD-A696-649341C1D328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C5A90-0CBC-4BAE-B3AC-4AC75D75EA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66A46-E26E-4D50-8DDB-FB7F5B9D13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ACFB4-F87E-45C0-A151-8A121541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275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6DC49-F6FD-4526-A742-676508867C0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82626-6266-440D-A8A1-9108F03CEB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9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Good Morning, I am Abdallah Hossam 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today I am going to present to you my Masters presentation, with the title </a:t>
                </a:r>
                <a:r>
                  <a:rPr lang="en-US" sz="1200" i="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𝝁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-synthesis Based Control for Quad-rotor Trajectory Tracking.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694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is organized as shown.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57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2FCF-E089-59BD-57B2-42FAC87A9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BA99A-7DA9-D7F3-8029-3611A20C8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C17143-2C7D-F7BC-9E13-5ECE12FA3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65F09-F4C3-0752-5295-052AEAB8E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79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CB20-40C1-36F1-F665-1E66A8013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74815-FBFA-0840-B0F4-D5B2AFCE3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572E4-0CCF-5B69-7254-4FC2D7E57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F1936-68DF-3482-8094-9C342EC28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68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8FBA4-999F-7271-9C7B-82A73E8FA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0C438-154C-3C38-F98A-2D74850AD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AE3BF-7883-A0A3-94F7-DC394D417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3677B-EF9B-AA42-41B9-120FF6818E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401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4AF8A-8FB6-DFCD-30E8-B0BF834C7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2B04F-5B1B-D0F4-3BBB-500D36456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E7A2B-291D-A134-3EC4-5EC693D71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1592F-99AC-45D4-F0F2-EE68F87827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962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88AAF-9AD7-DFEC-8514-2FA6BD72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9785D-0103-42C4-6E80-B09600E10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B31B0-491C-97F1-9F68-CBCE9D327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34324-34B7-3FAA-C7CA-74EC0CFAF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818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4DDD2-79F2-3A72-FBCA-F0274CF4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0ADA5-6E8C-4A1A-7D64-3A7B38236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50853-2F0A-7B86-7A81-EF174B670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AA12F-90F7-00AE-935D-BBA7F5635C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391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D695D-24CE-7938-F358-C10992C47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6A4E1-02E6-DAF2-D6A4-5E7DF5328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2A05E-FE37-311E-5AFA-4AEF56F3C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D187D-752C-EFE9-4977-A29224775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46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8F61-FC75-8581-1339-185E3DC1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3D451-7CF7-3D46-AE90-512B08F1C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FFFC0-7D8F-EC3D-3EDA-41904B9BA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C7245-2DC7-D03C-2252-9C26CD0132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031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183BA-BD00-6100-DB1D-53CB3CA43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5BAC1-B2FF-61C7-B91C-9207ACC3D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00230-8748-4A71-13AF-F48B30F53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DA76C-EA18-AF29-CC07-D46C749DCD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67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E696-22DB-8911-0128-505D66401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167A2-68A9-EF9C-54F0-E7FE09AB8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EC2FA-E336-E42A-769A-C59C2F830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7AEAA-EE26-144A-497F-BD21B2B19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360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74EFF-EA5B-867F-A374-C669232A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79FF4-F2BA-0300-0B61-38F6703EA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4D0D3-21BD-A82A-018B-D2EFB1B04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C4A5E-F882-6C90-8A69-7EAAD11249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75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14378-2064-DA1E-4B2F-416DA786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A1042-07D6-CABC-6F3F-62DEB1EDA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B5F89-E3DC-FB4D-86CC-F21A241B8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is organized as shown. First, it is stated why robust control is required for quad-rotors, then a literature review of H-infinity based quad-rotor control is provided. Afterwards, the controller design is explained in detail. Then, simulation results are presented, and finally, the conclusion and future work are provided.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4ED02-5D18-DA90-F6E9-177022A3C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82626-6266-440D-A8A1-9108F03CEB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551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27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9" y="124632"/>
            <a:ext cx="9347200" cy="3135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5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9" y="213532"/>
            <a:ext cx="9347200" cy="3135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6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9" y="213532"/>
            <a:ext cx="9347200" cy="3135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6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9" y="213532"/>
            <a:ext cx="9347200" cy="3135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6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/>
            </a:lvl1pPr>
          </a:lstStyle>
          <a:p>
            <a:fld id="{4488AA48-FE50-4E19-88CA-A0E4CBFE9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9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8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8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9" y="213532"/>
            <a:ext cx="9347200" cy="3135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4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48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838200"/>
            <a:ext cx="110744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61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CAF12ED-15F7-40B4-A37A-01BDBC410F8E}"/>
              </a:ext>
            </a:extLst>
          </p:cNvPr>
          <p:cNvSpPr txBox="1">
            <a:spLocks/>
          </p:cNvSpPr>
          <p:nvPr/>
        </p:nvSpPr>
        <p:spPr>
          <a:xfrm>
            <a:off x="2743201" y="533400"/>
            <a:ext cx="6934201" cy="10668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pPr algn="ctr"/>
            <a:r>
              <a:rPr lang="en-US" sz="2000" b="0" dirty="0"/>
              <a:t>German University in Cairo</a:t>
            </a:r>
            <a:br>
              <a:rPr lang="en-US" sz="2000" b="0" dirty="0"/>
            </a:br>
            <a:r>
              <a:rPr lang="en-US" sz="2000" b="0" dirty="0"/>
              <a:t>Faculty of Engineering and Materials Science</a:t>
            </a:r>
            <a:br>
              <a:rPr lang="en-US" sz="2000" b="0" dirty="0"/>
            </a:br>
            <a:r>
              <a:rPr lang="en-US" sz="2000" b="0" dirty="0"/>
              <a:t>Mechatronics Engineering Department</a:t>
            </a:r>
            <a:br>
              <a:rPr lang="en-US" sz="2800" dirty="0"/>
            </a:br>
            <a:br>
              <a:rPr lang="en-US" sz="4800" dirty="0"/>
            </a:br>
            <a:r>
              <a:rPr lang="en-US" sz="4000" dirty="0"/>
              <a:t>Pick and Place Robotic Arm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0060EF0F-F5F5-45E8-BFCF-DDA87695C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0799" y="3124200"/>
            <a:ext cx="6477001" cy="3505200"/>
          </a:xfrm>
        </p:spPr>
        <p:txBody>
          <a:bodyPr>
            <a:normAutofit fontScale="92500" lnSpcReduction="20000"/>
          </a:bodyPr>
          <a:lstStyle/>
          <a:p>
            <a:br>
              <a:rPr lang="en-US" b="1" u="sng" dirty="0"/>
            </a:br>
            <a:r>
              <a:rPr lang="en-US" sz="2600" b="1" dirty="0"/>
              <a:t>Presented by: </a:t>
            </a:r>
          </a:p>
          <a:p>
            <a:r>
              <a:rPr lang="en-US" b="1" dirty="0">
                <a:solidFill>
                  <a:schemeClr val="tx2"/>
                </a:solidFill>
              </a:rPr>
              <a:t>Team 07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sz="2600" b="1" dirty="0"/>
              <a:t>Team Members: 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Bassam Walid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Mostafa Shakweer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Somaya Magdy</a:t>
            </a:r>
          </a:p>
          <a:p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Styven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Hany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Yassin Hesham</a:t>
            </a:r>
            <a:endParaRPr lang="en-US" b="1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Youssef Mohamed</a:t>
            </a:r>
          </a:p>
        </p:txBody>
      </p:sp>
    </p:spTree>
    <p:extLst>
      <p:ext uri="{BB962C8B-B14F-4D97-AF65-F5344CB8AC3E}">
        <p14:creationId xmlns:p14="http://schemas.microsoft.com/office/powerpoint/2010/main" val="244591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9347200" cy="365125"/>
          </a:xfrm>
        </p:spPr>
        <p:txBody>
          <a:bodyPr/>
          <a:lstStyle/>
          <a:p>
            <a:r>
              <a:rPr lang="en-US" dirty="0"/>
              <a:t>Outline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54664-85B1-468A-AB13-63F681A7E8BC}"/>
              </a:ext>
            </a:extLst>
          </p:cNvPr>
          <p:cNvSpPr txBox="1"/>
          <p:nvPr/>
        </p:nvSpPr>
        <p:spPr>
          <a:xfrm>
            <a:off x="1295400" y="990600"/>
            <a:ext cx="5562600" cy="3374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Kinematic Modeling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Pick-and-Place Trajectory Planning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&amp; Hardware Results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Demonstration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9632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101CC-A6DD-7614-10AA-7064D723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DCB6-AE39-B97C-EDD3-395B8B92A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C859CD-EBF1-E09D-95A3-31F7E10F6685}"/>
              </a:ext>
            </a:extLst>
          </p:cNvPr>
          <p:cNvSpPr/>
          <p:nvPr/>
        </p:nvSpPr>
        <p:spPr>
          <a:xfrm>
            <a:off x="0" y="914400"/>
            <a:ext cx="1351267" cy="4953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BA408C-1A2C-493C-8758-DDAA78E1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5B73A-9722-4318-9BAC-038BFED077A0}"/>
              </a:ext>
            </a:extLst>
          </p:cNvPr>
          <p:cNvSpPr txBox="1"/>
          <p:nvPr/>
        </p:nvSpPr>
        <p:spPr>
          <a:xfrm>
            <a:off x="1676400" y="1627170"/>
            <a:ext cx="8137823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4-DOF serial manipulator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Arduino-based control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Pick-and-place end effector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in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Simscape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Gazebo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075C6E-EFC0-871D-640A-DE1186D94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3651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8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122F5-4967-8840-5A4C-5857D0F8D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7A9F7-7430-58D8-E1D8-55011F062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77509D-D866-2E3E-F165-E1688C827B2F}"/>
              </a:ext>
            </a:extLst>
          </p:cNvPr>
          <p:cNvSpPr/>
          <p:nvPr/>
        </p:nvSpPr>
        <p:spPr>
          <a:xfrm>
            <a:off x="0" y="914400"/>
            <a:ext cx="1351267" cy="4953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359CDC-8A12-8476-7BE4-0B70C74C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 Modeling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A33538-2B89-C012-2B6D-E41B29A12A3A}"/>
              </a:ext>
            </a:extLst>
          </p:cNvPr>
          <p:cNvSpPr txBox="1"/>
          <p:nvPr/>
        </p:nvSpPr>
        <p:spPr>
          <a:xfrm>
            <a:off x="1676400" y="1627170"/>
            <a:ext cx="8137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 convention used for modeling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&amp; inverse kinematics obtained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angles computed for pick/place points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96714E-EFC6-6DD0-C0F7-9C2D8ACD9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541141"/>
              </p:ext>
            </p:extLst>
          </p:nvPr>
        </p:nvGraphicFramePr>
        <p:xfrm>
          <a:off x="1905000" y="3200400"/>
          <a:ext cx="5327015" cy="17995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5403">
                  <a:extLst>
                    <a:ext uri="{9D8B030D-6E8A-4147-A177-3AD203B41FA5}">
                      <a16:colId xmlns:a16="http://schemas.microsoft.com/office/drawing/2014/main" val="799363823"/>
                    </a:ext>
                  </a:extLst>
                </a:gridCol>
                <a:gridCol w="1065403">
                  <a:extLst>
                    <a:ext uri="{9D8B030D-6E8A-4147-A177-3AD203B41FA5}">
                      <a16:colId xmlns:a16="http://schemas.microsoft.com/office/drawing/2014/main" val="1793022317"/>
                    </a:ext>
                  </a:extLst>
                </a:gridCol>
                <a:gridCol w="1065403">
                  <a:extLst>
                    <a:ext uri="{9D8B030D-6E8A-4147-A177-3AD203B41FA5}">
                      <a16:colId xmlns:a16="http://schemas.microsoft.com/office/drawing/2014/main" val="3876922190"/>
                    </a:ext>
                  </a:extLst>
                </a:gridCol>
                <a:gridCol w="1065403">
                  <a:extLst>
                    <a:ext uri="{9D8B030D-6E8A-4147-A177-3AD203B41FA5}">
                      <a16:colId xmlns:a16="http://schemas.microsoft.com/office/drawing/2014/main" val="801964801"/>
                    </a:ext>
                  </a:extLst>
                </a:gridCol>
                <a:gridCol w="1065403">
                  <a:extLst>
                    <a:ext uri="{9D8B030D-6E8A-4147-A177-3AD203B41FA5}">
                      <a16:colId xmlns:a16="http://schemas.microsoft.com/office/drawing/2014/main" val="1343306757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Link (i)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θᵢ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dᵢ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aᵢ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αᵢ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764327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1 (0→1)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q₁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l₁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π/2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6593930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2 (1→2)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q₂ + π/2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l₂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π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6836592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3 (2→3)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q₃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l₃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π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7033093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4 (3→4)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q₄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l₄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76883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75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6E2CB-5A4A-B6BA-6685-0570DBA5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7F386-D88E-EBCD-4D05-7969BDF8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CA2DCB-1B48-D277-D831-DDD439B746BC}"/>
              </a:ext>
            </a:extLst>
          </p:cNvPr>
          <p:cNvSpPr/>
          <p:nvPr/>
        </p:nvSpPr>
        <p:spPr>
          <a:xfrm>
            <a:off x="0" y="914400"/>
            <a:ext cx="1351267" cy="4953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C1BAAC-3775-396D-9256-9674F69D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 Modeling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ED57FE-8C90-44D9-5E69-2795A86C2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3651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0E127-4BBA-BF6D-6EAA-EE441F6FD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657" y="2417029"/>
            <a:ext cx="10321622" cy="1110298"/>
          </a:xfrm>
          <a:prstGeom prst="rect">
            <a:avLst/>
          </a:prstGeom>
        </p:spPr>
      </p:pic>
      <p:pic>
        <p:nvPicPr>
          <p:cNvPr id="7" name="Picture 6" descr="A black background with numbers and letters&#10;&#10;AI-generated content may be incorrect.">
            <a:extLst>
              <a:ext uri="{FF2B5EF4-FFF2-40B4-BE49-F238E27FC236}">
                <a16:creationId xmlns:a16="http://schemas.microsoft.com/office/drawing/2014/main" id="{980B246C-5ADA-2EF7-703C-C4DD1FA32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7581" y="4022531"/>
            <a:ext cx="8091774" cy="1066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D50597-954C-E51A-7C97-77C766E54D7F}"/>
              </a:ext>
            </a:extLst>
          </p:cNvPr>
          <p:cNvSpPr txBox="1"/>
          <p:nvPr/>
        </p:nvSpPr>
        <p:spPr>
          <a:xfrm>
            <a:off x="1622657" y="990600"/>
            <a:ext cx="10321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Jacobian of the system: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59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FED1-690E-32E9-DD05-2B2FBBDE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0884A-B9DB-B57C-FC2E-A9F3A276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446B33-7782-C4BF-AAD8-A87C0D3A265A}"/>
              </a:ext>
            </a:extLst>
          </p:cNvPr>
          <p:cNvSpPr/>
          <p:nvPr/>
        </p:nvSpPr>
        <p:spPr>
          <a:xfrm>
            <a:off x="0" y="914400"/>
            <a:ext cx="1351267" cy="4953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948ED7-94D0-C71D-6ECC-CA7C205FD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 Modeling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437BB-9AAB-6170-4D29-BAAFAF3C016D}"/>
              </a:ext>
            </a:extLst>
          </p:cNvPr>
          <p:cNvSpPr txBox="1"/>
          <p:nvPr/>
        </p:nvSpPr>
        <p:spPr>
          <a:xfrm>
            <a:off x="1622657" y="990600"/>
            <a:ext cx="10321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Kinematics forward and inverse tests: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A37899E-FD41-B0F5-123F-9425C2BA55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365560"/>
            <a:ext cx="5076959" cy="4433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873D352-9B05-864C-A6DE-DDFFE066E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649" y="2555547"/>
            <a:ext cx="5112630" cy="174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50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8ABBD-01AC-5444-A426-A3DEAB53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A37A9-2B7A-DDDA-0D6E-5BBE6923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FE7515-A28E-1390-FACB-D661ED9CDF31}"/>
              </a:ext>
            </a:extLst>
          </p:cNvPr>
          <p:cNvSpPr/>
          <p:nvPr/>
        </p:nvSpPr>
        <p:spPr>
          <a:xfrm>
            <a:off x="0" y="914400"/>
            <a:ext cx="1351267" cy="4953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2AE0BD-1BA3-034E-0D17-B0F003E9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 Modeling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464B4-6B9D-9B85-A651-99857D0B2522}"/>
              </a:ext>
            </a:extLst>
          </p:cNvPr>
          <p:cNvSpPr txBox="1"/>
          <p:nvPr/>
        </p:nvSpPr>
        <p:spPr>
          <a:xfrm>
            <a:off x="1622657" y="990600"/>
            <a:ext cx="10321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Kinematics forward and inverse: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77495C-5F1B-4743-025C-190D8E057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068" y="1600200"/>
            <a:ext cx="7162800" cy="409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014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23E18-E12C-A065-98C6-CEBBAEB2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AFF65-3FF8-40E5-52B5-E343778D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A1B4DA-4FB1-F9AA-91CD-E07AC7A77544}"/>
              </a:ext>
            </a:extLst>
          </p:cNvPr>
          <p:cNvSpPr/>
          <p:nvPr/>
        </p:nvSpPr>
        <p:spPr>
          <a:xfrm>
            <a:off x="0" y="914400"/>
            <a:ext cx="1351267" cy="4953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9CC4AE-0BC1-B851-14FA-29088EF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079" y="-139782"/>
            <a:ext cx="9347200" cy="31350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Pick-and-Place Trajectory Planning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0D1666C-E2C4-FA9F-9424-A97E19914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3651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D5DAF4-95CC-FCB8-C523-A56AB41E47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616"/>
          <a:stretch>
            <a:fillRect/>
          </a:stretch>
        </p:blipFill>
        <p:spPr bwMode="auto">
          <a:xfrm>
            <a:off x="3200400" y="1905000"/>
            <a:ext cx="7303332" cy="40901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5DA85-0270-4672-84D3-1313AACCC26C}"/>
              </a:ext>
            </a:extLst>
          </p:cNvPr>
          <p:cNvSpPr txBox="1"/>
          <p:nvPr/>
        </p:nvSpPr>
        <p:spPr>
          <a:xfrm>
            <a:off x="1622657" y="990600"/>
            <a:ext cx="10321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Trajectory: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57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FB29-82CD-C081-26F2-1DBEF24A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26AD5-114B-0BB0-103D-98A40013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7DB483-4372-DF4D-9FC7-79CDFF4E9818}"/>
              </a:ext>
            </a:extLst>
          </p:cNvPr>
          <p:cNvSpPr/>
          <p:nvPr/>
        </p:nvSpPr>
        <p:spPr>
          <a:xfrm>
            <a:off x="0" y="914400"/>
            <a:ext cx="1351267" cy="4953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EA6A5CA-0688-62AB-7ABF-2D345E2FD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3651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F5C7C-DACD-3CFA-03E3-CB7B58DAB937}"/>
              </a:ext>
            </a:extLst>
          </p:cNvPr>
          <p:cNvSpPr txBox="1"/>
          <p:nvPr/>
        </p:nvSpPr>
        <p:spPr>
          <a:xfrm>
            <a:off x="1622657" y="990600"/>
            <a:ext cx="10321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Spiral Trajectory: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4ACBC1-61E4-99AC-B8B4-7109F1BCD2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80"/>
          <a:stretch>
            <a:fillRect/>
          </a:stretch>
        </p:blipFill>
        <p:spPr bwMode="auto">
          <a:xfrm>
            <a:off x="3120548" y="1709865"/>
            <a:ext cx="6877368" cy="42248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Title 2">
            <a:extLst>
              <a:ext uri="{FF2B5EF4-FFF2-40B4-BE49-F238E27FC236}">
                <a16:creationId xmlns:a16="http://schemas.microsoft.com/office/drawing/2014/main" id="{FC2D4DC4-3804-5384-FDA0-831D25931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079" y="-139782"/>
            <a:ext cx="9347200" cy="31350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Pick-and-Place Trajectory Planning</a:t>
            </a:r>
          </a:p>
        </p:txBody>
      </p:sp>
    </p:spTree>
    <p:extLst>
      <p:ext uri="{BB962C8B-B14F-4D97-AF65-F5344CB8AC3E}">
        <p14:creationId xmlns:p14="http://schemas.microsoft.com/office/powerpoint/2010/main" val="3440127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A4D46-ABBE-1791-DD5E-1A7ABCE31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D1DED-E6A7-F202-560B-9C525B78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5755A2-0A33-A2F4-255C-A2EA2D8D7BFB}"/>
              </a:ext>
            </a:extLst>
          </p:cNvPr>
          <p:cNvSpPr/>
          <p:nvPr/>
        </p:nvSpPr>
        <p:spPr>
          <a:xfrm>
            <a:off x="0" y="914400"/>
            <a:ext cx="1351267" cy="4953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7D4D29C-B905-592D-2EB8-CD7E0BE52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3651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6B6BD-7E05-C9FE-581C-C86DB47DED58}"/>
              </a:ext>
            </a:extLst>
          </p:cNvPr>
          <p:cNvSpPr txBox="1"/>
          <p:nvPr/>
        </p:nvSpPr>
        <p:spPr>
          <a:xfrm>
            <a:off x="1622657" y="990600"/>
            <a:ext cx="10321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Position Error: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D346BE08-33F0-E871-2B65-5B28B0DE2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980241"/>
            <a:ext cx="5875338" cy="3684139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C0098B77-F520-043B-DC94-F8FA326DD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079" y="-139782"/>
            <a:ext cx="9347200" cy="31350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Pick-and-Place Trajectory Planning</a:t>
            </a:r>
          </a:p>
        </p:txBody>
      </p:sp>
    </p:spTree>
    <p:extLst>
      <p:ext uri="{BB962C8B-B14F-4D97-AF65-F5344CB8AC3E}">
        <p14:creationId xmlns:p14="http://schemas.microsoft.com/office/powerpoint/2010/main" val="3588835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A1ED-3280-1D65-294D-390FAAA9D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5AD8D-D7AA-D63A-BE24-3DBE05CF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64BE03-6DBD-B460-5AD5-60D154E08030}"/>
              </a:ext>
            </a:extLst>
          </p:cNvPr>
          <p:cNvSpPr/>
          <p:nvPr/>
        </p:nvSpPr>
        <p:spPr>
          <a:xfrm>
            <a:off x="0" y="914400"/>
            <a:ext cx="1351267" cy="4953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EE3E797-A962-76A7-A232-963DBF7FB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3651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FE857-5AC5-4E39-B103-32BD6DE0C3D4}"/>
              </a:ext>
            </a:extLst>
          </p:cNvPr>
          <p:cNvSpPr txBox="1"/>
          <p:nvPr/>
        </p:nvSpPr>
        <p:spPr>
          <a:xfrm>
            <a:off x="1622657" y="990600"/>
            <a:ext cx="10321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Gazebo: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C1C6DE14-AB01-E9AA-4AE3-D77D9DFC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079" y="-139782"/>
            <a:ext cx="9347200" cy="31350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Pick-and-Place Trajectory Planning</a:t>
            </a:r>
          </a:p>
        </p:txBody>
      </p:sp>
      <p:pic>
        <p:nvPicPr>
          <p:cNvPr id="7" name="Untitled video - Made with Clipchamp (1)">
            <a:hlinkClick r:id="" action="ppaction://media"/>
            <a:extLst>
              <a:ext uri="{FF2B5EF4-FFF2-40B4-BE49-F238E27FC236}">
                <a16:creationId xmlns:a16="http://schemas.microsoft.com/office/drawing/2014/main" id="{D5849BE3-8899-BF8D-D6BC-F0987BBCD3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97079" y="1385846"/>
            <a:ext cx="8662988" cy="487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64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49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E922-9C79-1AA7-A7AD-2E6BC530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FFB45-A38B-99D5-1D9A-81101912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E832C-6D62-6460-30C7-B21EA6336B83}"/>
              </a:ext>
            </a:extLst>
          </p:cNvPr>
          <p:cNvSpPr/>
          <p:nvPr/>
        </p:nvSpPr>
        <p:spPr>
          <a:xfrm>
            <a:off x="0" y="914400"/>
            <a:ext cx="1351267" cy="4953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CEED96-919E-427D-9D99-AE77B62C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&amp; Hardware Results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71E097-3163-F612-9879-BDB873C0573E}"/>
              </a:ext>
            </a:extLst>
          </p:cNvPr>
          <p:cNvSpPr txBox="1"/>
          <p:nvPr/>
        </p:nvSpPr>
        <p:spPr>
          <a:xfrm>
            <a:off x="1676400" y="1305048"/>
            <a:ext cx="8137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Hardware: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CE122D-5D76-B7A6-141A-A0D592CA7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3651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 descr="A robot arm on a table&#10;&#10;AI-generated content may be incorrect.">
            <a:extLst>
              <a:ext uri="{FF2B5EF4-FFF2-40B4-BE49-F238E27FC236}">
                <a16:creationId xmlns:a16="http://schemas.microsoft.com/office/drawing/2014/main" id="{FE808DF8-EE62-CADF-67C1-29A68B707E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892393"/>
            <a:ext cx="3336269" cy="4448358"/>
          </a:xfrm>
          <a:prstGeom prst="rect">
            <a:avLst/>
          </a:prstGeom>
        </p:spPr>
      </p:pic>
      <p:pic>
        <p:nvPicPr>
          <p:cNvPr id="8" name="Picture 7" descr="A robotic arm on a round device&#10;&#10;AI-generated content may be incorrect.">
            <a:extLst>
              <a:ext uri="{FF2B5EF4-FFF2-40B4-BE49-F238E27FC236}">
                <a16:creationId xmlns:a16="http://schemas.microsoft.com/office/drawing/2014/main" id="{78D8334B-0DFD-E460-9DB1-52400AFF5A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269" y="1892393"/>
            <a:ext cx="3336269" cy="444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5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C90F1-5056-9348-657C-5F8DA39C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9FB05-3B3C-4E54-1133-2EAAB7D4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6279B5-4CEC-4030-241A-3AB1ED480CA8}"/>
              </a:ext>
            </a:extLst>
          </p:cNvPr>
          <p:cNvSpPr/>
          <p:nvPr/>
        </p:nvSpPr>
        <p:spPr>
          <a:xfrm>
            <a:off x="0" y="914400"/>
            <a:ext cx="1351267" cy="49530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D7EE3C-CBE9-9859-18FA-93472C69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2A697B-8A28-2BE9-C8FC-3F232CDBC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267" y="2931996"/>
            <a:ext cx="1084073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0372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79CF-21E7-6080-3D82-58E3A006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89CD4-2DFC-F8C8-E83F-B1F636C8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599" y="6356351"/>
            <a:ext cx="2844801" cy="365125"/>
          </a:xfrm>
        </p:spPr>
        <p:txBody>
          <a:bodyPr/>
          <a:lstStyle/>
          <a:p>
            <a:fld id="{4488AA48-FE50-4E19-88CA-A0E4CBFE9EC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EC9695-EFF0-79E7-3DBE-6356D8A65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678" y="124632"/>
            <a:ext cx="11587967" cy="313506"/>
          </a:xfr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0304244-49A1-5176-0828-DC519C3BD269}"/>
              </a:ext>
            </a:extLst>
          </p:cNvPr>
          <p:cNvSpPr txBox="1">
            <a:spLocks/>
          </p:cNvSpPr>
          <p:nvPr/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88AA48-FE50-4E19-88CA-A0E4CBFE9EC2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" name="Picture 2" descr="Thank You Images – Browse 298,731 Stock Photos, Vectors, and Video | Adobe  Stock">
            <a:extLst>
              <a:ext uri="{FF2B5EF4-FFF2-40B4-BE49-F238E27FC236}">
                <a16:creationId xmlns:a16="http://schemas.microsoft.com/office/drawing/2014/main" id="{66E50056-973A-7524-C58A-D5E99546E3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5" b="15555"/>
          <a:stretch/>
        </p:blipFill>
        <p:spPr bwMode="auto">
          <a:xfrm>
            <a:off x="2606678" y="2133600"/>
            <a:ext cx="805815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3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69016</TotalTime>
  <Words>312</Words>
  <Application>Microsoft Office PowerPoint</Application>
  <PresentationFormat>Widescreen</PresentationFormat>
  <Paragraphs>100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Office Theme</vt:lpstr>
      <vt:lpstr>PowerPoint Presentation</vt:lpstr>
      <vt:lpstr>Outline  </vt:lpstr>
      <vt:lpstr>System Overview</vt:lpstr>
      <vt:lpstr>Kinematic Modeling</vt:lpstr>
      <vt:lpstr>Kinematic Modeling</vt:lpstr>
      <vt:lpstr>Kinematic Modeling</vt:lpstr>
      <vt:lpstr>Kinematic Modeling</vt:lpstr>
      <vt:lpstr>Pick-and-Place Trajectory Planning</vt:lpstr>
      <vt:lpstr>Pick-and-Place Trajectory Planning</vt:lpstr>
      <vt:lpstr>Pick-and-Place Trajectory Planning</vt:lpstr>
      <vt:lpstr>Pick-and-Place Trajectory Planning</vt:lpstr>
      <vt:lpstr>Simulation &amp; Hardware Results</vt:lpstr>
      <vt:lpstr>Live 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 Noise Amplifier</dc:title>
  <dc:creator>Abdallah Hossam Mohammed</dc:creator>
  <cp:lastModifiedBy>Mostafa Shakweer</cp:lastModifiedBy>
  <cp:revision>1554</cp:revision>
  <dcterms:created xsi:type="dcterms:W3CDTF">2016-02-12T15:27:25Z</dcterms:created>
  <dcterms:modified xsi:type="dcterms:W3CDTF">2025-12-17T21:40:53Z</dcterms:modified>
</cp:coreProperties>
</file>