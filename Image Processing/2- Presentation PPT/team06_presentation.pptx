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F051B8-725E-41ED-8590-2CEF6114E237}" v="39" dt="2026-05-24T10:14:11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0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sef Mohamed" userId="d91d9f32d0386ffa" providerId="LiveId" clId="{4AD3D68D-E5FC-46A5-8700-B9D92C7144F8}"/>
    <pc:docChg chg="modSld modMainMaster">
      <pc:chgData name="Youssef Mohamed" userId="d91d9f32d0386ffa" providerId="LiveId" clId="{4AD3D68D-E5FC-46A5-8700-B9D92C7144F8}" dt="2026-05-24T10:14:11.475" v="100"/>
      <pc:docMkLst>
        <pc:docMk/>
      </pc:docMkLst>
      <pc:sldChg chg="modSp mod modTransition">
        <pc:chgData name="Youssef Mohamed" userId="d91d9f32d0386ffa" providerId="LiveId" clId="{4AD3D68D-E5FC-46A5-8700-B9D92C7144F8}" dt="2026-05-24T10:14:11.475" v="100"/>
        <pc:sldMkLst>
          <pc:docMk/>
          <pc:sldMk cId="0" sldId="256"/>
        </pc:sldMkLst>
        <pc:spChg chg="mod">
          <ac:chgData name="Youssef Mohamed" userId="d91d9f32d0386ffa" providerId="LiveId" clId="{4AD3D68D-E5FC-46A5-8700-B9D92C7144F8}" dt="2026-05-24T09:49:29.150" v="61" actId="1036"/>
          <ac:spMkLst>
            <pc:docMk/>
            <pc:sldMk cId="0" sldId="256"/>
            <ac:spMk id="14" creationId="{A2FEC81A-D581-7EFA-D016-A675D67ED620}"/>
          </ac:spMkLst>
        </pc:spChg>
        <pc:spChg chg="mod">
          <ac:chgData name="Youssef Mohamed" userId="d91d9f32d0386ffa" providerId="LiveId" clId="{4AD3D68D-E5FC-46A5-8700-B9D92C7144F8}" dt="2026-05-24T09:49:20.003" v="38" actId="1035"/>
          <ac:spMkLst>
            <pc:docMk/>
            <pc:sldMk cId="0" sldId="256"/>
            <ac:spMk id="15" creationId="{694DBA30-B0E2-4FFA-2D17-75702CB98FE2}"/>
          </ac:spMkLst>
        </pc:spChg>
        <pc:spChg chg="mod">
          <ac:chgData name="Youssef Mohamed" userId="d91d9f32d0386ffa" providerId="LiveId" clId="{4AD3D68D-E5FC-46A5-8700-B9D92C7144F8}" dt="2026-05-24T09:49:20.003" v="38" actId="1035"/>
          <ac:spMkLst>
            <pc:docMk/>
            <pc:sldMk cId="0" sldId="256"/>
            <ac:spMk id="16" creationId="{400E8439-9AB6-3916-5485-50BB386B0640}"/>
          </ac:spMkLst>
        </pc:spChg>
        <pc:spChg chg="mod">
          <ac:chgData name="Youssef Mohamed" userId="d91d9f32d0386ffa" providerId="LiveId" clId="{4AD3D68D-E5FC-46A5-8700-B9D92C7144F8}" dt="2026-05-24T09:49:20.003" v="38" actId="1035"/>
          <ac:spMkLst>
            <pc:docMk/>
            <pc:sldMk cId="0" sldId="256"/>
            <ac:spMk id="17" creationId="{0DA90D25-3AB6-CBB5-836B-A91B3EF90D13}"/>
          </ac:spMkLst>
        </pc:spChg>
      </pc:sldChg>
      <pc:sldChg chg="modTransition">
        <pc:chgData name="Youssef Mohamed" userId="d91d9f32d0386ffa" providerId="LiveId" clId="{4AD3D68D-E5FC-46A5-8700-B9D92C7144F8}" dt="2026-05-24T10:14:11.475" v="100"/>
        <pc:sldMkLst>
          <pc:docMk/>
          <pc:sldMk cId="0" sldId="257"/>
        </pc:sldMkLst>
      </pc:sldChg>
      <pc:sldChg chg="modTransition">
        <pc:chgData name="Youssef Mohamed" userId="d91d9f32d0386ffa" providerId="LiveId" clId="{4AD3D68D-E5FC-46A5-8700-B9D92C7144F8}" dt="2026-05-24T10:14:11.475" v="100"/>
        <pc:sldMkLst>
          <pc:docMk/>
          <pc:sldMk cId="0" sldId="258"/>
        </pc:sldMkLst>
      </pc:sldChg>
      <pc:sldChg chg="modTransition modAnim">
        <pc:chgData name="Youssef Mohamed" userId="d91d9f32d0386ffa" providerId="LiveId" clId="{4AD3D68D-E5FC-46A5-8700-B9D92C7144F8}" dt="2026-05-24T10:14:11.475" v="100"/>
        <pc:sldMkLst>
          <pc:docMk/>
          <pc:sldMk cId="0" sldId="259"/>
        </pc:sldMkLst>
      </pc:sldChg>
      <pc:sldChg chg="modTransition">
        <pc:chgData name="Youssef Mohamed" userId="d91d9f32d0386ffa" providerId="LiveId" clId="{4AD3D68D-E5FC-46A5-8700-B9D92C7144F8}" dt="2026-05-24T10:14:11.475" v="100"/>
        <pc:sldMkLst>
          <pc:docMk/>
          <pc:sldMk cId="0" sldId="260"/>
        </pc:sldMkLst>
      </pc:sldChg>
      <pc:sldChg chg="modTransition">
        <pc:chgData name="Youssef Mohamed" userId="d91d9f32d0386ffa" providerId="LiveId" clId="{4AD3D68D-E5FC-46A5-8700-B9D92C7144F8}" dt="2026-05-24T10:14:11.475" v="100"/>
        <pc:sldMkLst>
          <pc:docMk/>
          <pc:sldMk cId="0" sldId="261"/>
        </pc:sldMkLst>
      </pc:sldChg>
      <pc:sldChg chg="modTransition">
        <pc:chgData name="Youssef Mohamed" userId="d91d9f32d0386ffa" providerId="LiveId" clId="{4AD3D68D-E5FC-46A5-8700-B9D92C7144F8}" dt="2026-05-24T10:14:11.475" v="100"/>
        <pc:sldMkLst>
          <pc:docMk/>
          <pc:sldMk cId="0" sldId="262"/>
        </pc:sldMkLst>
      </pc:sldChg>
      <pc:sldChg chg="modTransition">
        <pc:chgData name="Youssef Mohamed" userId="d91d9f32d0386ffa" providerId="LiveId" clId="{4AD3D68D-E5FC-46A5-8700-B9D92C7144F8}" dt="2026-05-24T10:14:11.475" v="100"/>
        <pc:sldMkLst>
          <pc:docMk/>
          <pc:sldMk cId="0" sldId="263"/>
        </pc:sldMkLst>
      </pc:sldChg>
      <pc:sldChg chg="modTransition">
        <pc:chgData name="Youssef Mohamed" userId="d91d9f32d0386ffa" providerId="LiveId" clId="{4AD3D68D-E5FC-46A5-8700-B9D92C7144F8}" dt="2026-05-24T10:14:11.475" v="100"/>
        <pc:sldMkLst>
          <pc:docMk/>
          <pc:sldMk cId="657442571" sldId="265"/>
        </pc:sldMkLst>
      </pc:sldChg>
      <pc:sldMasterChg chg="modTransition modSldLayout">
        <pc:chgData name="Youssef Mohamed" userId="d91d9f32d0386ffa" providerId="LiveId" clId="{4AD3D68D-E5FC-46A5-8700-B9D92C7144F8}" dt="2026-05-24T10:14:11.475" v="100"/>
        <pc:sldMasterMkLst>
          <pc:docMk/>
          <pc:sldMasterMk cId="0" sldId="2147483648"/>
        </pc:sldMasterMkLst>
        <pc:sldLayoutChg chg="modTransition">
          <pc:chgData name="Youssef Mohamed" userId="d91d9f32d0386ffa" providerId="LiveId" clId="{4AD3D68D-E5FC-46A5-8700-B9D92C7144F8}" dt="2026-05-24T10:14:11.475" v="100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Youssef Mohamed" userId="d91d9f32d0386ffa" providerId="LiveId" clId="{4AD3D68D-E5FC-46A5-8700-B9D92C7144F8}" dt="2026-05-24T10:14:11.475" v="100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286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1D88-7241-A14A-3A24-F3B48AB5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B82F8-7261-7F61-786E-97D543946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50155-A477-3E66-85C3-B53346990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43D80-9B56-C8AF-3A1F-BE825AFC3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58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2700">
            <a:solidFill>
              <a:srgbClr val="D7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media" Target="../media/media2.mp4"/><Relationship Id="rId7" Type="http://schemas.openxmlformats.org/officeDocument/2006/relationships/image" Target="../media/image1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A2A66"/>
          </a:solidFill>
          <a:ln w="12700">
            <a:solidFill>
              <a:srgbClr val="0A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2FEC81A-D581-7EFA-D016-A675D67ED620}"/>
              </a:ext>
            </a:extLst>
          </p:cNvPr>
          <p:cNvSpPr txBox="1">
            <a:spLocks/>
          </p:cNvSpPr>
          <p:nvPr/>
        </p:nvSpPr>
        <p:spPr>
          <a:xfrm>
            <a:off x="1524000" y="1744811"/>
            <a:ext cx="9144000" cy="1393941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VISION-BASED LANE DETECTION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CONTROL PIPELINE</a:t>
            </a:r>
            <a:endParaRPr lang="en-US" sz="40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94DBA30-B0E2-4FFA-2D17-75702CB98FE2}"/>
              </a:ext>
            </a:extLst>
          </p:cNvPr>
          <p:cNvSpPr/>
          <p:nvPr/>
        </p:nvSpPr>
        <p:spPr>
          <a:xfrm>
            <a:off x="3626104" y="3432692"/>
            <a:ext cx="1061720" cy="399288"/>
          </a:xfrm>
          <a:prstGeom prst="rect">
            <a:avLst/>
          </a:prstGeom>
          <a:solidFill>
            <a:srgbClr val="EAF2FF"/>
          </a:solidFill>
          <a:ln>
            <a:solidFill>
              <a:srgbClr val="0A2A66">
                <a:alpha val="4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A66"/>
                </a:solidFill>
              </a:rPr>
              <a:t>Team 6</a:t>
            </a:r>
            <a:endParaRPr lang="en-US" sz="12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00E8439-9AB6-3916-5485-50BB386B0640}"/>
              </a:ext>
            </a:extLst>
          </p:cNvPr>
          <p:cNvSpPr/>
          <p:nvPr/>
        </p:nvSpPr>
        <p:spPr>
          <a:xfrm>
            <a:off x="4796536" y="3432692"/>
            <a:ext cx="2075180" cy="399288"/>
          </a:xfrm>
          <a:prstGeom prst="rect">
            <a:avLst/>
          </a:prstGeom>
          <a:solidFill>
            <a:srgbClr val="EAF8EF"/>
          </a:solidFill>
          <a:ln>
            <a:solidFill>
              <a:srgbClr val="167B39">
                <a:alpha val="4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7B39"/>
                </a:solidFill>
              </a:rPr>
              <a:t>Raspberry Pi + Camera</a:t>
            </a:r>
            <a:endParaRPr lang="en-US" sz="12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DA90D25-3AB6-CBB5-836B-A91B3EF90D13}"/>
              </a:ext>
            </a:extLst>
          </p:cNvPr>
          <p:cNvSpPr/>
          <p:nvPr/>
        </p:nvSpPr>
        <p:spPr>
          <a:xfrm>
            <a:off x="7025821" y="3432692"/>
            <a:ext cx="1737360" cy="399288"/>
          </a:xfrm>
          <a:prstGeom prst="rect">
            <a:avLst/>
          </a:prstGeom>
          <a:solidFill>
            <a:srgbClr val="FFF1E6"/>
          </a:solidFill>
          <a:ln>
            <a:solidFill>
              <a:srgbClr val="F36F21">
                <a:alpha val="4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6F21"/>
                </a:solidFill>
              </a:rPr>
              <a:t>Hardware Control</a:t>
            </a:r>
            <a:endParaRPr lang="en-US" sz="12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 &amp; 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</a:rPr>
              <a:t>From camera frame to vehicle actuation in one ROS 2 pipeline.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A66"/>
                </a:solidFill>
              </a:rPr>
              <a:t>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3504" y="15727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Enable a small autonomous vehicle to follow a printed black-lane track on a white background using a real-time camera-based pipeline.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770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A66"/>
                </a:solidFill>
              </a:rPr>
              <a:t>Core idea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" y="32186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The algorithm does not only draw lanes. It produces a real-world lookahead target that the pure pursuit controller can use directly.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4892040"/>
            <a:ext cx="1417320" cy="530352"/>
          </a:xfrm>
          <a:prstGeom prst="rect">
            <a:avLst/>
          </a:prstGeom>
          <a:solidFill>
            <a:srgbClr val="EAF2F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Camera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048256" y="5157216"/>
            <a:ext cx="182880" cy="0"/>
          </a:xfrm>
          <a:prstGeom prst="line">
            <a:avLst/>
          </a:prstGeom>
          <a:noFill/>
          <a:ln w="20320">
            <a:solidFill>
              <a:srgbClr val="F36F2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58568" y="4892040"/>
            <a:ext cx="1417320" cy="530352"/>
          </a:xfrm>
          <a:prstGeom prst="rect">
            <a:avLst/>
          </a:prstGeom>
          <a:solidFill>
            <a:srgbClr val="EAF2F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Lane node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03320" y="5157216"/>
            <a:ext cx="182880" cy="0"/>
          </a:xfrm>
          <a:prstGeom prst="line">
            <a:avLst/>
          </a:prstGeom>
          <a:noFill/>
          <a:ln w="20320">
            <a:solidFill>
              <a:srgbClr val="F36F2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13632" y="4892040"/>
            <a:ext cx="1417320" cy="530352"/>
          </a:xfrm>
          <a:prstGeom prst="rect">
            <a:avLst/>
          </a:prstGeom>
          <a:solidFill>
            <a:srgbClr val="EAF2F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Metric target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3504" y="5623560"/>
            <a:ext cx="1600200" cy="530352"/>
          </a:xfrm>
          <a:prstGeom prst="rect">
            <a:avLst/>
          </a:prstGeom>
          <a:solidFill>
            <a:srgbClr val="EAF8E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Pure pursuit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231136" y="5888736"/>
            <a:ext cx="182880" cy="0"/>
          </a:xfrm>
          <a:prstGeom prst="line">
            <a:avLst/>
          </a:prstGeom>
          <a:noFill/>
          <a:ln w="20320">
            <a:solidFill>
              <a:srgbClr val="F36F2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41448" y="5623560"/>
            <a:ext cx="1600200" cy="530352"/>
          </a:xfrm>
          <a:prstGeom prst="rect">
            <a:avLst/>
          </a:prstGeom>
          <a:solidFill>
            <a:srgbClr val="EAF8E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Arduino output</a:t>
            </a:r>
            <a:endParaRPr lang="en-US" sz="1350" dirty="0"/>
          </a:p>
        </p:txBody>
      </p:sp>
      <p:pic>
        <p:nvPicPr>
          <p:cNvPr id="16" name="Image 0" descr="/mnt/data/raw_ro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337" y="1170432"/>
            <a:ext cx="4839286" cy="2359152"/>
          </a:xfrm>
          <a:prstGeom prst="rect">
            <a:avLst/>
          </a:prstGeom>
        </p:spPr>
      </p:pic>
      <p:pic>
        <p:nvPicPr>
          <p:cNvPr id="17" name="Image 1" descr="/mnt/data/lane_overlay.jpg"/>
          <p:cNvPicPr>
            <a:picLocks noChangeAspect="1"/>
          </p:cNvPicPr>
          <p:nvPr/>
        </p:nvPicPr>
        <p:blipFill>
          <a:blip r:embed="rId4"/>
          <a:srcRect t="24067" b="24067"/>
          <a:stretch/>
        </p:blipFill>
        <p:spPr>
          <a:xfrm>
            <a:off x="6492240" y="3858768"/>
            <a:ext cx="4983480" cy="19385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9224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6B7A"/>
                </a:solidFill>
              </a:rPr>
              <a:t>Input ROI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92240" y="5925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6B7A"/>
                </a:solidFill>
              </a:rPr>
              <a:t>Controller-ready overlay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8D722-EA8C-8DA8-8E80-778E5910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69BB3D5-5608-A10C-0FB0-2E75B58DF68A}"/>
              </a:ext>
            </a:extLst>
          </p:cNvPr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A2A66"/>
          </a:solidFill>
          <a:ln w="12700">
            <a:solidFill>
              <a:srgbClr val="0A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F02B18-415A-5A80-F75F-240E9AFF5844}"/>
              </a:ext>
            </a:extLst>
          </p:cNvPr>
          <p:cNvSpPr/>
          <p:nvPr/>
        </p:nvSpPr>
        <p:spPr>
          <a:xfrm>
            <a:off x="566928" y="68580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300" b="1" dirty="0">
                <a:solidFill>
                  <a:srgbClr val="0A2A66"/>
                </a:solidFill>
                <a:latin typeface="Aptos Display" pitchFamily="34" charset="0"/>
              </a:rPr>
              <a:t>Homography Calibration Process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F024C56-7282-D9A0-F659-84A97CA6F1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002C74F-D835-7583-EA9C-EEE18DF76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28" y="1931709"/>
            <a:ext cx="10607040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 reference points were selected on the lane track.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pixel coordinates were mapped to real-world ground coordinates in meters.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Homography removes camera perspective distortion caused by the camera angle.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image targets into: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 distance (x)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Lateral offset (y)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metric centerline calculation instead of pixel-only estimation.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pure pursuit steering accuracy and vehicle stability. </a:t>
            </a:r>
          </a:p>
        </p:txBody>
      </p:sp>
    </p:spTree>
    <p:extLst>
      <p:ext uri="{BB962C8B-B14F-4D97-AF65-F5344CB8AC3E}">
        <p14:creationId xmlns:p14="http://schemas.microsoft.com/office/powerpoint/2010/main" val="657442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</a:rPr>
              <a:t>Perception first, then control and actuation.</a:t>
            </a:r>
            <a:endParaRPr lang="en-US" sz="1250" dirty="0"/>
          </a:p>
        </p:txBody>
      </p:sp>
      <p:pic>
        <p:nvPicPr>
          <p:cNvPr id="4" name="Image 0" descr="/mnt/data/98032ff7-ba2f-4e11-b78a-af281715d6de.png"/>
          <p:cNvPicPr>
            <a:picLocks noChangeAspect="1"/>
          </p:cNvPicPr>
          <p:nvPr/>
        </p:nvPicPr>
        <p:blipFill>
          <a:blip r:embed="rId3"/>
          <a:srcRect t="3650" b="11765"/>
          <a:stretch>
            <a:fillRect/>
          </a:stretch>
        </p:blipFill>
        <p:spPr>
          <a:xfrm>
            <a:off x="165820" y="914400"/>
            <a:ext cx="4387892" cy="5239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6592" y="960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A66"/>
                </a:solidFill>
              </a:rPr>
              <a:t>Important processing stages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773168" y="1481328"/>
            <a:ext cx="66751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</a:rPr>
              <a:t>1–5  Camera input, ROI cropping, grayscale, blur, and binary thresholding.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</a:rPr>
              <a:t>6–9  Morphological cleanup, row-by-row extraction, spline fitting, and validation.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</a:rPr>
              <a:t>10  Lane availability decision: both lanes, one lane, or memory fallback.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</a:rPr>
              <a:t>11–17  Target smoothing, </a:t>
            </a:r>
            <a:r>
              <a:rPr lang="en-US" sz="1750" dirty="0" err="1">
                <a:solidFill>
                  <a:srgbClr val="111827"/>
                </a:solidFill>
              </a:rPr>
              <a:t>homography</a:t>
            </a:r>
            <a:r>
              <a:rPr lang="en-US" sz="1750" dirty="0">
                <a:solidFill>
                  <a:srgbClr val="111827"/>
                </a:solidFill>
              </a:rPr>
              <a:t>, pure pursuit steering, and command publishing.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736592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A66"/>
                </a:solidFill>
              </a:rPr>
              <a:t>Reported system performance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00600" y="44074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755C8"/>
                </a:solidFill>
              </a:rPr>
              <a:t>20.82 FPS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800600" y="4837176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827"/>
                </a:solidFill>
              </a:rPr>
              <a:t>Real-time processing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37960" y="4407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755C8"/>
                </a:solidFill>
              </a:rPr>
              <a:t>38.57 ms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537960" y="4837176"/>
            <a:ext cx="1691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827"/>
                </a:solidFill>
              </a:rPr>
              <a:t>Average latency per frame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21040" y="44074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7B39"/>
                </a:solidFill>
              </a:rPr>
              <a:t>100%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321040" y="4837176"/>
            <a:ext cx="1325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827"/>
                </a:solidFill>
              </a:rPr>
              <a:t>Target availability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784080" y="44074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6F21"/>
                </a:solidFill>
              </a:rPr>
              <a:t>70.02%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784080" y="4837176"/>
            <a:ext cx="1508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827"/>
                </a:solidFill>
              </a:rPr>
              <a:t>Dual-lane detection rate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00600" y="57424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B7A"/>
                </a:solidFill>
              </a:rPr>
              <a:t>Tested under varied lighting and lane scenarios: dual lane, single lane, and no-lane cases.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 1: Full Detection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</a:rPr>
              <a:t>Images 1–5 show how raw camera data becomes a steering-ready lane target.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2A66"/>
                </a:solidFill>
              </a:rPr>
              <a:t>Main result</a:t>
            </a:r>
            <a:endParaRPr lang="en-US" sz="1900" dirty="0"/>
          </a:p>
        </p:txBody>
      </p:sp>
      <p:pic>
        <p:nvPicPr>
          <p:cNvPr id="5" name="Image 0" descr="/mnt/data/lane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91031"/>
            <a:ext cx="5166360" cy="38747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E6B7A"/>
                </a:solidFill>
              </a:rPr>
              <a:t>Final overlay: metric centerline, lookahead target, steering value, and confidence values.</a:t>
            </a:r>
            <a:endParaRPr lang="en-US" sz="1300" dirty="0"/>
          </a:p>
        </p:txBody>
      </p:sp>
      <p:pic>
        <p:nvPicPr>
          <p:cNvPr id="7" name="Image 1" descr="/mnt/data/raw_ro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209866"/>
            <a:ext cx="2651760" cy="12927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0760" y="25603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7A"/>
                </a:solidFill>
              </a:rPr>
              <a:t>1  Raw ROI</a:t>
            </a:r>
            <a:endParaRPr lang="en-US" sz="1150" dirty="0"/>
          </a:p>
        </p:txBody>
      </p:sp>
      <p:pic>
        <p:nvPicPr>
          <p:cNvPr id="9" name="Image 2" descr="/mnt/data/threshol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209866"/>
            <a:ext cx="2651760" cy="12927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06840" y="25603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7A"/>
                </a:solidFill>
              </a:rPr>
              <a:t>2  Binary threshold</a:t>
            </a:r>
            <a:endParaRPr lang="en-US" sz="1150" dirty="0"/>
          </a:p>
        </p:txBody>
      </p:sp>
      <p:pic>
        <p:nvPicPr>
          <p:cNvPr id="11" name="Image 3" descr="/mnt/data/morphe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093529"/>
            <a:ext cx="2651760" cy="12927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80760" y="4443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7A"/>
                </a:solidFill>
              </a:rPr>
              <a:t>3  Morphological opening</a:t>
            </a:r>
            <a:endParaRPr lang="en-US" sz="1150" dirty="0"/>
          </a:p>
        </p:txBody>
      </p:sp>
      <p:pic>
        <p:nvPicPr>
          <p:cNvPr id="13" name="Image 4" descr="/mnt/data/spline_fi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3093529"/>
            <a:ext cx="2651760" cy="129273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06840" y="4443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7A"/>
                </a:solidFill>
              </a:rPr>
              <a:t>4  Spline fit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080760" y="5102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66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6108192" y="546811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Thresholding isolates black lane pixels; morphology removes noise; splines create smooth boundaries for target selection.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 2: Dual-Lane Tracking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</a:rPr>
              <a:t>Images 6–7 show tracking on a curve with both lane boundaries available.</a:t>
            </a:r>
            <a:endParaRPr lang="en-US" sz="1250" dirty="0"/>
          </a:p>
        </p:txBody>
      </p:sp>
      <p:pic>
        <p:nvPicPr>
          <p:cNvPr id="4" name="Image 0" descr="/mnt/data/lane_overlay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5486400" cy="4114800"/>
          </a:xfrm>
          <a:prstGeom prst="rect">
            <a:avLst/>
          </a:prstGeom>
        </p:spPr>
      </p:pic>
      <p:pic>
        <p:nvPicPr>
          <p:cNvPr id="5" name="Image 1" descr="/mnt/data/spline_fit(1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623" y="1115568"/>
            <a:ext cx="5158154" cy="2514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" y="5413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B7A"/>
                </a:solidFill>
              </a:rPr>
              <a:t>Final overlay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46520" y="37490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B7A"/>
                </a:solidFill>
              </a:rPr>
              <a:t>Spline-only debug view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46520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2A66"/>
                </a:solidFill>
              </a:rPr>
              <a:t>Key behavior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473952" y="4800600"/>
            <a:ext cx="50292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</a:rPr>
              <a:t>• The left and right splines are validated before use.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</a:rPr>
              <a:t>• The centerline is calculated in metric ground space.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</a:rPr>
              <a:t>• A lookahead target is selected on the centerline and sent to pure pursuit.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 3: One-Lane Recovery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</a:rPr>
              <a:t>Images 8–9 show operation when only one lane boundary is reliable.</a:t>
            </a:r>
            <a:endParaRPr lang="en-US" sz="1250" dirty="0"/>
          </a:p>
        </p:txBody>
      </p:sp>
      <p:pic>
        <p:nvPicPr>
          <p:cNvPr id="4" name="Image 0" descr="/mnt/data/lane_overlay(2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5486400" cy="4114800"/>
          </a:xfrm>
          <a:prstGeom prst="rect">
            <a:avLst/>
          </a:prstGeom>
        </p:spPr>
      </p:pic>
      <p:pic>
        <p:nvPicPr>
          <p:cNvPr id="5" name="Image 1" descr="/mnt/data/spline_fit(2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623" y="1115568"/>
            <a:ext cx="5158154" cy="2514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" y="5413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B7A"/>
                </a:solidFill>
              </a:rPr>
              <a:t>Right-only overlay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46520" y="37490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B7A"/>
                </a:solidFill>
              </a:rPr>
              <a:t>Spline-only debug view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46520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2A66"/>
                </a:solidFill>
              </a:rPr>
              <a:t>Fallback logic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473952" y="4800600"/>
            <a:ext cx="5029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Missing lane is reconstructed using the real lane width.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Right-only mode shifts the boundary by 0.15 m to estimate the centerline.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Emergency steering correction prevents the vehicle from drifting away.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Output &amp; Hardware Actuation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</a:rPr>
              <a:t>The pipeline ends with a command that the microcontroller can execute.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A66"/>
                </a:solidFill>
              </a:rPr>
              <a:t>Output command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167335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</a:rPr>
              <a:t>/cmd_vel_raw = [speed, steering_angle]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226771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E6B7A"/>
                </a:solidFill>
              </a:rPr>
              <a:t>Servo convention: 90° = straight, 45° = max left, 135° = max right.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8368" y="3063240"/>
            <a:ext cx="1170432" cy="530352"/>
          </a:xfrm>
          <a:prstGeom prst="rect">
            <a:avLst/>
          </a:prstGeom>
          <a:solidFill>
            <a:srgbClr val="EAF8E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Target point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56232" y="3328416"/>
            <a:ext cx="146304" cy="0"/>
          </a:xfrm>
          <a:prstGeom prst="line">
            <a:avLst/>
          </a:prstGeom>
          <a:noFill/>
          <a:ln w="20320">
            <a:solidFill>
              <a:srgbClr val="F36F2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29968" y="3063240"/>
            <a:ext cx="1170432" cy="530352"/>
          </a:xfrm>
          <a:prstGeom prst="rect">
            <a:avLst/>
          </a:prstGeom>
          <a:solidFill>
            <a:srgbClr val="EAF8E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Pure pursuit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27832" y="3328416"/>
            <a:ext cx="146304" cy="0"/>
          </a:xfrm>
          <a:prstGeom prst="line">
            <a:avLst/>
          </a:prstGeom>
          <a:noFill/>
          <a:ln w="20320">
            <a:solidFill>
              <a:srgbClr val="F36F2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3063240"/>
            <a:ext cx="1170432" cy="530352"/>
          </a:xfrm>
          <a:prstGeom prst="rect">
            <a:avLst/>
          </a:prstGeom>
          <a:solidFill>
            <a:srgbClr val="EAF8E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Steering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99432" y="3328416"/>
            <a:ext cx="146304" cy="0"/>
          </a:xfrm>
          <a:prstGeom prst="line">
            <a:avLst/>
          </a:prstGeom>
          <a:noFill/>
          <a:ln w="20320">
            <a:solidFill>
              <a:srgbClr val="F36F2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73168" y="3063240"/>
            <a:ext cx="1170432" cy="530352"/>
          </a:xfrm>
          <a:prstGeom prst="rect">
            <a:avLst/>
          </a:prstGeom>
          <a:solidFill>
            <a:srgbClr val="EAF8EF"/>
          </a:solidFill>
          <a:ln w="13970">
            <a:solidFill>
              <a:srgbClr val="B8CB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A66"/>
                </a:solidFill>
              </a:rPr>
              <a:t>Actuators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1143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A66"/>
                </a:solidFill>
              </a:rPr>
              <a:t>Important final parameters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73952" y="1664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B7A"/>
                </a:solidFill>
              </a:rPr>
              <a:t>ROI crop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89720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top 25%, bottom 10%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73952" y="20665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B7A"/>
                </a:solidFill>
              </a:rPr>
              <a:t>Dark threshold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89720" y="20665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125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73952" y="24688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B7A"/>
                </a:solidFill>
              </a:rPr>
              <a:t>Lane width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89720" y="2468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0.30 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73952" y="28712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B7A"/>
                </a:solidFill>
              </a:rPr>
              <a:t>Wheelbase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89720" y="28712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0.255 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73952" y="32735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B7A"/>
                </a:solidFill>
              </a:rPr>
              <a:t>Drive speed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89720" y="3273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0.7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73952" y="3675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B7A"/>
                </a:solidFill>
              </a:rPr>
              <a:t>Smoothing α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89720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0.9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73952" y="40782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B7A"/>
                </a:solidFill>
              </a:rPr>
              <a:t>One-lane forced turn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189720" y="4078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35°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21792" y="4690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A66"/>
                </a:solidFill>
              </a:rPr>
              <a:t>Hardware chain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8368" y="51663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Raspberry Pi runs ROS 2 and the camera pipeline. Arduino receives speed and steering commands, then drives the DC motor driver and steering servo.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58368" y="587959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36F21"/>
                </a:solidFill>
              </a:rPr>
              <a:t>Common ground is required between Raspberry Pi / Arduino / motor driver when signals are exchanged directly.</a:t>
            </a:r>
            <a:endParaRPr lang="en-US" sz="14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2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7A"/>
                </a:solidFill>
              </a:rPr>
              <a:t>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17629" y="1143000"/>
            <a:ext cx="383032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5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417320" y="3502152"/>
            <a:ext cx="937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51960" y="59436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0" name="track 1">
            <a:hlinkClick r:id="" action="ppaction://media"/>
            <a:extLst>
              <a:ext uri="{FF2B5EF4-FFF2-40B4-BE49-F238E27FC236}">
                <a16:creationId xmlns:a16="http://schemas.microsoft.com/office/drawing/2014/main" id="{6602965D-B94F-168A-A635-DFC8749A5C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732280" y="1308100"/>
            <a:ext cx="2401019" cy="4241800"/>
          </a:xfrm>
          <a:prstGeom prst="rect">
            <a:avLst/>
          </a:prstGeom>
        </p:spPr>
      </p:pic>
      <p:sp>
        <p:nvSpPr>
          <p:cNvPr id="11" name="Shape 2">
            <a:extLst>
              <a:ext uri="{FF2B5EF4-FFF2-40B4-BE49-F238E27FC236}">
                <a16:creationId xmlns:a16="http://schemas.microsoft.com/office/drawing/2014/main" id="{C4A13BDF-8D27-2998-B7E2-C9A97F3207AB}"/>
              </a:ext>
            </a:extLst>
          </p:cNvPr>
          <p:cNvSpPr/>
          <p:nvPr/>
        </p:nvSpPr>
        <p:spPr>
          <a:xfrm>
            <a:off x="5765800" y="1143000"/>
            <a:ext cx="527304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5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track 2">
            <a:hlinkClick r:id="" action="ppaction://media"/>
            <a:extLst>
              <a:ext uri="{FF2B5EF4-FFF2-40B4-BE49-F238E27FC236}">
                <a16:creationId xmlns:a16="http://schemas.microsoft.com/office/drawing/2014/main" id="{3ECB4E16-752D-2DAE-8D88-60889D0E315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383020" y="2286000"/>
            <a:ext cx="4038600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84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161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621</Words>
  <Application>Microsoft Office PowerPoint</Application>
  <PresentationFormat>Widescreen</PresentationFormat>
  <Paragraphs>116</Paragraphs>
  <Slides>9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Vision-Based Lane Detection and Control Pipeline</dc:title>
  <dc:subject>Vision-based lane detection and control project showcase</dc:subject>
  <dc:creator>OpenAI</dc:creator>
  <cp:lastModifiedBy>Youssef Mohamed</cp:lastModifiedBy>
  <cp:revision>2</cp:revision>
  <dcterms:created xsi:type="dcterms:W3CDTF">2026-05-23T20:32:22Z</dcterms:created>
  <dcterms:modified xsi:type="dcterms:W3CDTF">2026-05-24T10:14:20Z</dcterms:modified>
</cp:coreProperties>
</file>