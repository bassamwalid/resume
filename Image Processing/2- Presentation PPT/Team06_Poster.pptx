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1374100" cy="15113000"/>
  <p:notesSz cx="9144000" cy="6858000"/>
  <p:embeddedFontLst>
    <p:embeddedFont>
      <p:font typeface="Canva Sans" panose="020B0604020202020204" charset="0"/>
      <p:regular r:id="rId3"/>
    </p:embeddedFont>
    <p:embeddedFont>
      <p:font typeface="Canva Sans Bold" panose="020B0604020202020204" charset="0"/>
      <p:regular r:id="rId4"/>
    </p:embeddedFont>
    <p:embeddedFont>
      <p:font typeface="Glacial Indifference" panose="020B0604020202020204" charset="0"/>
      <p:regular r:id="rId5"/>
    </p:embeddedFont>
    <p:embeddedFont>
      <p:font typeface="Glacial Indifference Bold" panose="020B0604020202020204" charset="0"/>
      <p:regular r:id="rId6"/>
    </p:embeddedFont>
    <p:embeddedFont>
      <p:font typeface="Roboto" panose="02000000000000000000" pitchFamily="2"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2060" y="7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ableStyles" Target="tableStyles.xml"/><Relationship Id="rId5" Type="http://schemas.openxmlformats.org/officeDocument/2006/relationships/font" Target="fonts/font3.fntdata"/><Relationship Id="rId10" Type="http://schemas.openxmlformats.org/officeDocument/2006/relationships/theme" Target="theme/theme1.xml"/><Relationship Id="rId4" Type="http://schemas.openxmlformats.org/officeDocument/2006/relationships/font" Target="fonts/font2.fntdata"/><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jpeg"/><Relationship Id="rId2" Type="http://schemas.openxmlformats.org/officeDocument/2006/relationships/image" Target="../media/image1.png"/><Relationship Id="rId16"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901" y="-82369"/>
            <a:ext cx="21384000" cy="2681319"/>
            <a:chOff x="0" y="0"/>
            <a:chExt cx="5109029" cy="640616"/>
          </a:xfrm>
        </p:grpSpPr>
        <p:sp>
          <p:nvSpPr>
            <p:cNvPr id="3" name="Freeform 3">
              <a:extLst>
                <a:ext uri="{C183D7F6-B498-43B3-948B-1728B52AA6E4}">
                  <adec:decorative xmlns:adec="http://schemas.microsoft.com/office/drawing/2017/decorative" val="1"/>
                </a:ext>
              </a:extLst>
            </p:cNvPr>
            <p:cNvSpPr/>
            <p:nvPr/>
          </p:nvSpPr>
          <p:spPr>
            <a:xfrm>
              <a:off x="0" y="0"/>
              <a:ext cx="5109028" cy="640616"/>
            </a:xfrm>
            <a:custGeom>
              <a:avLst/>
              <a:gdLst/>
              <a:ahLst/>
              <a:cxnLst/>
              <a:rect l="l" t="t" r="r" b="b"/>
              <a:pathLst>
                <a:path w="5109028" h="640616">
                  <a:moveTo>
                    <a:pt x="0" y="0"/>
                  </a:moveTo>
                  <a:lnTo>
                    <a:pt x="5109028" y="0"/>
                  </a:lnTo>
                  <a:lnTo>
                    <a:pt x="5109028" y="640616"/>
                  </a:lnTo>
                  <a:lnTo>
                    <a:pt x="0" y="640616"/>
                  </a:lnTo>
                  <a:close/>
                </a:path>
              </a:pathLst>
            </a:custGeom>
            <a:solidFill>
              <a:srgbClr val="ADBFD1"/>
            </a:solidFill>
          </p:spPr>
          <p:txBody>
            <a:bodyPr/>
            <a:lstStyle/>
            <a:p>
              <a:endParaRPr lang="en-US"/>
            </a:p>
          </p:txBody>
        </p:sp>
        <p:sp>
          <p:nvSpPr>
            <p:cNvPr id="4" name="TextBox 4"/>
            <p:cNvSpPr txBox="1"/>
            <p:nvPr/>
          </p:nvSpPr>
          <p:spPr>
            <a:xfrm>
              <a:off x="0" y="-47625"/>
              <a:ext cx="5109029" cy="688241"/>
            </a:xfrm>
            <a:prstGeom prst="rect">
              <a:avLst/>
            </a:prstGeom>
          </p:spPr>
          <p:txBody>
            <a:bodyPr lIns="35000" tIns="35000" rIns="35000" bIns="35000" rtlCol="0" anchor="ctr"/>
            <a:lstStyle/>
            <a:p>
              <a:pPr algn="ctr">
                <a:lnSpc>
                  <a:spcPts val="3086"/>
                </a:lnSpc>
              </a:pPr>
              <a:endParaRPr/>
            </a:p>
          </p:txBody>
        </p:sp>
      </p:grpSp>
      <p:grpSp>
        <p:nvGrpSpPr>
          <p:cNvPr id="5" name="Group 5"/>
          <p:cNvGrpSpPr/>
          <p:nvPr/>
        </p:nvGrpSpPr>
        <p:grpSpPr>
          <a:xfrm>
            <a:off x="403897" y="2239071"/>
            <a:ext cx="20582953" cy="989625"/>
            <a:chOff x="0" y="0"/>
            <a:chExt cx="4917644" cy="236440"/>
          </a:xfrm>
        </p:grpSpPr>
        <p:sp>
          <p:nvSpPr>
            <p:cNvPr id="6" name="Freeform 6">
              <a:extLst>
                <a:ext uri="{C183D7F6-B498-43B3-948B-1728B52AA6E4}">
                  <adec:decorative xmlns:adec="http://schemas.microsoft.com/office/drawing/2017/decorative" val="1"/>
                </a:ext>
              </a:extLst>
            </p:cNvPr>
            <p:cNvSpPr/>
            <p:nvPr/>
          </p:nvSpPr>
          <p:spPr>
            <a:xfrm>
              <a:off x="0" y="0"/>
              <a:ext cx="4917644" cy="236440"/>
            </a:xfrm>
            <a:custGeom>
              <a:avLst/>
              <a:gdLst/>
              <a:ahLst/>
              <a:cxnLst/>
              <a:rect l="l" t="t" r="r" b="b"/>
              <a:pathLst>
                <a:path w="4917644" h="236440">
                  <a:moveTo>
                    <a:pt x="10532" y="0"/>
                  </a:moveTo>
                  <a:lnTo>
                    <a:pt x="4907112" y="0"/>
                  </a:lnTo>
                  <a:cubicBezTo>
                    <a:pt x="4912929" y="0"/>
                    <a:pt x="4917644" y="4715"/>
                    <a:pt x="4917644" y="10532"/>
                  </a:cubicBezTo>
                  <a:lnTo>
                    <a:pt x="4917644" y="225908"/>
                  </a:lnTo>
                  <a:cubicBezTo>
                    <a:pt x="4917644" y="231724"/>
                    <a:pt x="4912929" y="236440"/>
                    <a:pt x="4907112" y="236440"/>
                  </a:cubicBezTo>
                  <a:lnTo>
                    <a:pt x="10532" y="236440"/>
                  </a:lnTo>
                  <a:cubicBezTo>
                    <a:pt x="4715" y="236440"/>
                    <a:pt x="0" y="231724"/>
                    <a:pt x="0" y="225908"/>
                  </a:cubicBezTo>
                  <a:lnTo>
                    <a:pt x="0" y="10532"/>
                  </a:lnTo>
                  <a:cubicBezTo>
                    <a:pt x="0" y="4715"/>
                    <a:pt x="4715" y="0"/>
                    <a:pt x="10532" y="0"/>
                  </a:cubicBezTo>
                  <a:close/>
                </a:path>
              </a:pathLst>
            </a:custGeom>
            <a:solidFill>
              <a:srgbClr val="1C68AA"/>
            </a:solidFill>
          </p:spPr>
          <p:txBody>
            <a:bodyPr/>
            <a:lstStyle/>
            <a:p>
              <a:endParaRPr lang="en-US"/>
            </a:p>
          </p:txBody>
        </p:sp>
        <p:sp>
          <p:nvSpPr>
            <p:cNvPr id="7" name="TextBox 7"/>
            <p:cNvSpPr txBox="1"/>
            <p:nvPr/>
          </p:nvSpPr>
          <p:spPr>
            <a:xfrm>
              <a:off x="0" y="-47625"/>
              <a:ext cx="4917644" cy="284065"/>
            </a:xfrm>
            <a:prstGeom prst="rect">
              <a:avLst/>
            </a:prstGeom>
          </p:spPr>
          <p:txBody>
            <a:bodyPr lIns="35000" tIns="35000" rIns="35000" bIns="35000" rtlCol="0" anchor="ctr"/>
            <a:lstStyle/>
            <a:p>
              <a:pPr algn="ctr">
                <a:lnSpc>
                  <a:spcPts val="3086"/>
                </a:lnSpc>
              </a:pPr>
              <a:endParaRPr/>
            </a:p>
          </p:txBody>
        </p:sp>
      </p:grpSp>
      <p:sp>
        <p:nvSpPr>
          <p:cNvPr id="8" name="Freeform 8"/>
          <p:cNvSpPr/>
          <p:nvPr/>
        </p:nvSpPr>
        <p:spPr>
          <a:xfrm flipH="1" flipV="1">
            <a:off x="19982982" y="14351610"/>
            <a:ext cx="1401018" cy="755475"/>
          </a:xfrm>
          <a:custGeom>
            <a:avLst/>
            <a:gdLst/>
            <a:ahLst/>
            <a:cxnLst/>
            <a:rect l="l" t="t" r="r" b="b"/>
            <a:pathLst>
              <a:path w="1401018" h="755475">
                <a:moveTo>
                  <a:pt x="1401018" y="755475"/>
                </a:moveTo>
                <a:lnTo>
                  <a:pt x="0" y="755475"/>
                </a:lnTo>
                <a:lnTo>
                  <a:pt x="0" y="0"/>
                </a:lnTo>
                <a:lnTo>
                  <a:pt x="1401018" y="0"/>
                </a:lnTo>
                <a:lnTo>
                  <a:pt x="1401018" y="755475"/>
                </a:lnTo>
                <a:close/>
              </a:path>
            </a:pathLst>
          </a:custGeom>
          <a:blipFill>
            <a:blip r:embed="rId2"/>
            <a:stretch>
              <a:fillRect t="-90203"/>
            </a:stretch>
          </a:blipFill>
        </p:spPr>
        <p:txBody>
          <a:bodyPr/>
          <a:lstStyle/>
          <a:p>
            <a:endParaRPr lang="en-US"/>
          </a:p>
        </p:txBody>
      </p:sp>
      <p:sp>
        <p:nvSpPr>
          <p:cNvPr id="9" name="AutoShape 9"/>
          <p:cNvSpPr/>
          <p:nvPr/>
        </p:nvSpPr>
        <p:spPr>
          <a:xfrm flipV="1">
            <a:off x="675141" y="6886854"/>
            <a:ext cx="5396013" cy="9774"/>
          </a:xfrm>
          <a:prstGeom prst="line">
            <a:avLst/>
          </a:prstGeom>
          <a:ln w="9525" cap="flat">
            <a:solidFill>
              <a:srgbClr val="4C45FD"/>
            </a:solidFill>
            <a:prstDash val="solid"/>
            <a:headEnd type="none" w="sm" len="sm"/>
            <a:tailEnd type="none" w="sm" len="sm"/>
          </a:ln>
        </p:spPr>
        <p:txBody>
          <a:bodyPr/>
          <a:lstStyle/>
          <a:p>
            <a:endParaRPr lang="en-US"/>
          </a:p>
        </p:txBody>
      </p:sp>
      <p:sp>
        <p:nvSpPr>
          <p:cNvPr id="10" name="AutoShape 10"/>
          <p:cNvSpPr/>
          <p:nvPr/>
        </p:nvSpPr>
        <p:spPr>
          <a:xfrm>
            <a:off x="403897" y="14351610"/>
            <a:ext cx="12591422" cy="0"/>
          </a:xfrm>
          <a:prstGeom prst="line">
            <a:avLst/>
          </a:prstGeom>
          <a:ln w="9525" cap="flat">
            <a:solidFill>
              <a:srgbClr val="4C45FD"/>
            </a:solidFill>
            <a:prstDash val="solid"/>
            <a:headEnd type="none" w="sm" len="sm"/>
            <a:tailEnd type="none" w="sm" len="sm"/>
          </a:ln>
        </p:spPr>
        <p:txBody>
          <a:bodyPr/>
          <a:lstStyle/>
          <a:p>
            <a:endParaRPr lang="en-US"/>
          </a:p>
        </p:txBody>
      </p:sp>
      <p:sp>
        <p:nvSpPr>
          <p:cNvPr id="11" name="AutoShape 11"/>
          <p:cNvSpPr/>
          <p:nvPr/>
        </p:nvSpPr>
        <p:spPr>
          <a:xfrm flipH="1">
            <a:off x="6282531" y="3801506"/>
            <a:ext cx="8928" cy="2916794"/>
          </a:xfrm>
          <a:prstGeom prst="line">
            <a:avLst/>
          </a:prstGeom>
          <a:ln w="9525" cap="flat">
            <a:solidFill>
              <a:srgbClr val="4C45FD"/>
            </a:solidFill>
            <a:prstDash val="solid"/>
            <a:headEnd type="none" w="sm" len="sm"/>
            <a:tailEnd type="none" w="sm" len="sm"/>
          </a:ln>
        </p:spPr>
        <p:txBody>
          <a:bodyPr/>
          <a:lstStyle/>
          <a:p>
            <a:endParaRPr lang="en-US"/>
          </a:p>
        </p:txBody>
      </p:sp>
      <p:sp>
        <p:nvSpPr>
          <p:cNvPr id="12" name="AutoShape 12"/>
          <p:cNvSpPr/>
          <p:nvPr/>
        </p:nvSpPr>
        <p:spPr>
          <a:xfrm>
            <a:off x="13471569" y="3801506"/>
            <a:ext cx="0" cy="10122127"/>
          </a:xfrm>
          <a:prstGeom prst="line">
            <a:avLst/>
          </a:prstGeom>
          <a:ln w="9525" cap="flat">
            <a:solidFill>
              <a:srgbClr val="4C45FD"/>
            </a:solidFill>
            <a:prstDash val="solid"/>
            <a:headEnd type="none" w="sm" len="sm"/>
            <a:tailEnd type="none" w="sm" len="sm"/>
          </a:ln>
        </p:spPr>
        <p:txBody>
          <a:bodyPr/>
          <a:lstStyle/>
          <a:p>
            <a:endParaRPr lang="en-US"/>
          </a:p>
        </p:txBody>
      </p:sp>
      <p:sp>
        <p:nvSpPr>
          <p:cNvPr id="13" name="Freeform 13"/>
          <p:cNvSpPr/>
          <p:nvPr/>
        </p:nvSpPr>
        <p:spPr>
          <a:xfrm>
            <a:off x="17430134" y="19223"/>
            <a:ext cx="3953866" cy="1595125"/>
          </a:xfrm>
          <a:custGeom>
            <a:avLst/>
            <a:gdLst/>
            <a:ahLst/>
            <a:cxnLst/>
            <a:rect l="l" t="t" r="r" b="b"/>
            <a:pathLst>
              <a:path w="3953866" h="1595125">
                <a:moveTo>
                  <a:pt x="0" y="0"/>
                </a:moveTo>
                <a:lnTo>
                  <a:pt x="3953866" y="0"/>
                </a:lnTo>
                <a:lnTo>
                  <a:pt x="3953866" y="1595125"/>
                </a:lnTo>
                <a:lnTo>
                  <a:pt x="0" y="1595125"/>
                </a:lnTo>
                <a:lnTo>
                  <a:pt x="0" y="0"/>
                </a:lnTo>
                <a:close/>
              </a:path>
            </a:pathLst>
          </a:custGeom>
          <a:blipFill>
            <a:blip r:embed="rId3"/>
            <a:stretch>
              <a:fillRect l="-6389"/>
            </a:stretch>
          </a:blipFill>
        </p:spPr>
        <p:txBody>
          <a:bodyPr/>
          <a:lstStyle/>
          <a:p>
            <a:endParaRPr lang="en-US"/>
          </a:p>
        </p:txBody>
      </p:sp>
      <p:sp>
        <p:nvSpPr>
          <p:cNvPr id="14" name="Freeform 14"/>
          <p:cNvSpPr/>
          <p:nvPr/>
        </p:nvSpPr>
        <p:spPr>
          <a:xfrm>
            <a:off x="0" y="33290"/>
            <a:ext cx="4004593" cy="1581058"/>
          </a:xfrm>
          <a:custGeom>
            <a:avLst/>
            <a:gdLst/>
            <a:ahLst/>
            <a:cxnLst/>
            <a:rect l="l" t="t" r="r" b="b"/>
            <a:pathLst>
              <a:path w="4004593" h="1581058">
                <a:moveTo>
                  <a:pt x="0" y="0"/>
                </a:moveTo>
                <a:lnTo>
                  <a:pt x="4004593" y="0"/>
                </a:lnTo>
                <a:lnTo>
                  <a:pt x="4004593" y="1581058"/>
                </a:lnTo>
                <a:lnTo>
                  <a:pt x="0" y="1581058"/>
                </a:lnTo>
                <a:lnTo>
                  <a:pt x="0" y="0"/>
                </a:lnTo>
                <a:close/>
              </a:path>
            </a:pathLst>
          </a:custGeom>
          <a:blipFill>
            <a:blip r:embed="rId4"/>
            <a:stretch>
              <a:fillRect b="-8788"/>
            </a:stretch>
          </a:blipFill>
        </p:spPr>
        <p:txBody>
          <a:bodyPr/>
          <a:lstStyle/>
          <a:p>
            <a:endParaRPr lang="en-US"/>
          </a:p>
        </p:txBody>
      </p:sp>
      <p:grpSp>
        <p:nvGrpSpPr>
          <p:cNvPr id="15" name="Group 15"/>
          <p:cNvGrpSpPr/>
          <p:nvPr/>
        </p:nvGrpSpPr>
        <p:grpSpPr>
          <a:xfrm>
            <a:off x="408828" y="7232345"/>
            <a:ext cx="5873703" cy="3934803"/>
            <a:chOff x="0" y="0"/>
            <a:chExt cx="7831604" cy="5246404"/>
          </a:xfrm>
        </p:grpSpPr>
        <p:sp>
          <p:nvSpPr>
            <p:cNvPr id="16" name="TextBox 16"/>
            <p:cNvSpPr txBox="1"/>
            <p:nvPr/>
          </p:nvSpPr>
          <p:spPr>
            <a:xfrm>
              <a:off x="137349" y="-38100"/>
              <a:ext cx="2576795" cy="484133"/>
            </a:xfrm>
            <a:prstGeom prst="rect">
              <a:avLst/>
            </a:prstGeom>
          </p:spPr>
          <p:txBody>
            <a:bodyPr lIns="0" tIns="0" rIns="0" bIns="0" rtlCol="0" anchor="t">
              <a:spAutoFit/>
            </a:bodyPr>
            <a:lstStyle/>
            <a:p>
              <a:pPr marL="0" lvl="0" indent="0" algn="ctr">
                <a:lnSpc>
                  <a:spcPts val="3086"/>
                </a:lnSpc>
                <a:spcBef>
                  <a:spcPct val="0"/>
                </a:spcBef>
              </a:pPr>
              <a:r>
                <a:rPr lang="en-US" sz="2204" b="1" u="none" strike="noStrike" dirty="0">
                  <a:solidFill>
                    <a:srgbClr val="000000"/>
                  </a:solidFill>
                  <a:latin typeface="Canva Sans Bold"/>
                  <a:ea typeface="Canva Sans Bold"/>
                  <a:cs typeface="Canva Sans Bold"/>
                  <a:sym typeface="Canva Sans Bold"/>
                </a:rPr>
                <a:t>Methodology</a:t>
              </a:r>
            </a:p>
          </p:txBody>
        </p:sp>
        <p:sp>
          <p:nvSpPr>
            <p:cNvPr id="17" name="Freeform 17"/>
            <p:cNvSpPr/>
            <p:nvPr/>
          </p:nvSpPr>
          <p:spPr>
            <a:xfrm>
              <a:off x="984545" y="1867725"/>
              <a:ext cx="6636646" cy="1004212"/>
            </a:xfrm>
            <a:custGeom>
              <a:avLst/>
              <a:gdLst/>
              <a:ahLst/>
              <a:cxnLst/>
              <a:rect l="l" t="t" r="r" b="b"/>
              <a:pathLst>
                <a:path w="6636646" h="1004212">
                  <a:moveTo>
                    <a:pt x="0" y="0"/>
                  </a:moveTo>
                  <a:lnTo>
                    <a:pt x="6636646" y="0"/>
                  </a:lnTo>
                  <a:lnTo>
                    <a:pt x="6636646" y="1004213"/>
                  </a:lnTo>
                  <a:lnTo>
                    <a:pt x="0" y="1004213"/>
                  </a:lnTo>
                  <a:lnTo>
                    <a:pt x="0" y="0"/>
                  </a:lnTo>
                  <a:close/>
                </a:path>
              </a:pathLst>
            </a:custGeom>
            <a:blipFill>
              <a:blip r:embed="rId5">
                <a:alphaModFix amt="68000"/>
              </a:blip>
              <a:stretch>
                <a:fillRect t="-392" b="-392"/>
              </a:stretch>
            </a:blipFill>
          </p:spPr>
          <p:txBody>
            <a:bodyPr/>
            <a:lstStyle/>
            <a:p>
              <a:endParaRPr lang="en-US"/>
            </a:p>
          </p:txBody>
        </p:sp>
        <p:sp>
          <p:nvSpPr>
            <p:cNvPr id="18" name="Freeform 18"/>
            <p:cNvSpPr/>
            <p:nvPr/>
          </p:nvSpPr>
          <p:spPr>
            <a:xfrm flipH="1">
              <a:off x="1577952" y="3843327"/>
              <a:ext cx="4973913" cy="119250"/>
            </a:xfrm>
            <a:custGeom>
              <a:avLst/>
              <a:gdLst/>
              <a:ahLst/>
              <a:cxnLst/>
              <a:rect l="l" t="t" r="r" b="b"/>
              <a:pathLst>
                <a:path w="4973913" h="119250">
                  <a:moveTo>
                    <a:pt x="4973913" y="0"/>
                  </a:moveTo>
                  <a:lnTo>
                    <a:pt x="0" y="0"/>
                  </a:lnTo>
                  <a:lnTo>
                    <a:pt x="0" y="119250"/>
                  </a:lnTo>
                  <a:lnTo>
                    <a:pt x="4973913" y="119250"/>
                  </a:lnTo>
                  <a:lnTo>
                    <a:pt x="4973913" y="0"/>
                  </a:lnTo>
                  <a:close/>
                </a:path>
              </a:pathLst>
            </a:custGeom>
            <a:blipFill>
              <a:blip r:embed="rId6"/>
              <a:stretch>
                <a:fillRect l="-168308" t="-235250" r="-168308" b="-624981"/>
              </a:stretch>
            </a:blipFill>
          </p:spPr>
          <p:txBody>
            <a:bodyPr/>
            <a:lstStyle/>
            <a:p>
              <a:endParaRPr lang="en-US"/>
            </a:p>
          </p:txBody>
        </p:sp>
        <p:sp>
          <p:nvSpPr>
            <p:cNvPr id="19" name="Freeform 19"/>
            <p:cNvSpPr/>
            <p:nvPr/>
          </p:nvSpPr>
          <p:spPr>
            <a:xfrm>
              <a:off x="1388765" y="2852432"/>
              <a:ext cx="378373" cy="1133701"/>
            </a:xfrm>
            <a:custGeom>
              <a:avLst/>
              <a:gdLst/>
              <a:ahLst/>
              <a:cxnLst/>
              <a:rect l="l" t="t" r="r" b="b"/>
              <a:pathLst>
                <a:path w="378373" h="1133701">
                  <a:moveTo>
                    <a:pt x="0" y="0"/>
                  </a:moveTo>
                  <a:lnTo>
                    <a:pt x="378373" y="0"/>
                  </a:lnTo>
                  <a:lnTo>
                    <a:pt x="378373" y="1133701"/>
                  </a:lnTo>
                  <a:lnTo>
                    <a:pt x="0" y="1133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0" name="Freeform 20"/>
            <p:cNvSpPr/>
            <p:nvPr/>
          </p:nvSpPr>
          <p:spPr>
            <a:xfrm>
              <a:off x="6540034" y="2852432"/>
              <a:ext cx="158722" cy="1110145"/>
            </a:xfrm>
            <a:custGeom>
              <a:avLst/>
              <a:gdLst/>
              <a:ahLst/>
              <a:cxnLst/>
              <a:rect l="l" t="t" r="r" b="b"/>
              <a:pathLst>
                <a:path w="158722" h="1110145">
                  <a:moveTo>
                    <a:pt x="0" y="0"/>
                  </a:moveTo>
                  <a:lnTo>
                    <a:pt x="158722" y="0"/>
                  </a:lnTo>
                  <a:lnTo>
                    <a:pt x="158722" y="1110145"/>
                  </a:lnTo>
                  <a:lnTo>
                    <a:pt x="0" y="1110145"/>
                  </a:lnTo>
                  <a:lnTo>
                    <a:pt x="0" y="0"/>
                  </a:lnTo>
                  <a:close/>
                </a:path>
              </a:pathLst>
            </a:custGeom>
            <a:blipFill>
              <a:blip>
                <a:extLst>
                  <a:ext uri="{96DAC541-7B7A-43D3-8B79-37D633B846F1}">
                    <asvg:svgBlip xmlns:asvg="http://schemas.microsoft.com/office/drawing/2016/SVG/main" r:embed="rId8"/>
                  </a:ext>
                </a:extLst>
              </a:blip>
              <a:stretch>
                <a:fillRect b="-226797"/>
              </a:stretch>
            </a:blipFill>
          </p:spPr>
          <p:txBody>
            <a:bodyPr/>
            <a:lstStyle/>
            <a:p>
              <a:endParaRPr lang="en-US"/>
            </a:p>
          </p:txBody>
        </p:sp>
        <p:sp>
          <p:nvSpPr>
            <p:cNvPr id="21" name="TextBox 21"/>
            <p:cNvSpPr txBox="1"/>
            <p:nvPr/>
          </p:nvSpPr>
          <p:spPr>
            <a:xfrm>
              <a:off x="2754292" y="1915147"/>
              <a:ext cx="1377517" cy="720922"/>
            </a:xfrm>
            <a:prstGeom prst="rect">
              <a:avLst/>
            </a:prstGeom>
          </p:spPr>
          <p:txBody>
            <a:bodyPr lIns="0" tIns="0" rIns="0" bIns="0" rtlCol="0" anchor="t">
              <a:spAutoFit/>
            </a:bodyPr>
            <a:lstStyle/>
            <a:p>
              <a:pPr algn="ctr">
                <a:lnSpc>
                  <a:spcPts val="2223"/>
                </a:lnSpc>
                <a:spcBef>
                  <a:spcPct val="0"/>
                </a:spcBef>
              </a:pPr>
              <a:r>
                <a:rPr lang="en-US" sz="1587" b="1" dirty="0">
                  <a:solidFill>
                    <a:srgbClr val="000000"/>
                  </a:solidFill>
                  <a:latin typeface="Canva Sans Bold"/>
                  <a:ea typeface="Canva Sans Bold"/>
                  <a:cs typeface="Canva Sans Bold"/>
                  <a:sym typeface="Canva Sans Bold"/>
                </a:rPr>
                <a:t>Raspberry pi</a:t>
              </a:r>
            </a:p>
          </p:txBody>
        </p:sp>
        <p:sp>
          <p:nvSpPr>
            <p:cNvPr id="22" name="TextBox 22"/>
            <p:cNvSpPr txBox="1"/>
            <p:nvPr/>
          </p:nvSpPr>
          <p:spPr>
            <a:xfrm>
              <a:off x="4420508" y="2010480"/>
              <a:ext cx="1377517" cy="352622"/>
            </a:xfrm>
            <a:prstGeom prst="rect">
              <a:avLst/>
            </a:prstGeom>
          </p:spPr>
          <p:txBody>
            <a:bodyPr lIns="0" tIns="0" rIns="0" bIns="0" rtlCol="0" anchor="t">
              <a:spAutoFit/>
            </a:bodyPr>
            <a:lstStyle/>
            <a:p>
              <a:pPr algn="ctr">
                <a:lnSpc>
                  <a:spcPts val="2223"/>
                </a:lnSpc>
                <a:spcBef>
                  <a:spcPct val="0"/>
                </a:spcBef>
              </a:pPr>
              <a:r>
                <a:rPr lang="en-US" sz="1587" b="1">
                  <a:solidFill>
                    <a:srgbClr val="000000"/>
                  </a:solidFill>
                  <a:latin typeface="Canva Sans Bold"/>
                  <a:ea typeface="Canva Sans Bold"/>
                  <a:cs typeface="Canva Sans Bold"/>
                  <a:sym typeface="Canva Sans Bold"/>
                </a:rPr>
                <a:t>Arduino</a:t>
              </a:r>
            </a:p>
          </p:txBody>
        </p:sp>
        <p:sp>
          <p:nvSpPr>
            <p:cNvPr id="23" name="TextBox 23"/>
            <p:cNvSpPr txBox="1"/>
            <p:nvPr/>
          </p:nvSpPr>
          <p:spPr>
            <a:xfrm>
              <a:off x="6153625" y="2010480"/>
              <a:ext cx="1377517" cy="352622"/>
            </a:xfrm>
            <a:prstGeom prst="rect">
              <a:avLst/>
            </a:prstGeom>
          </p:spPr>
          <p:txBody>
            <a:bodyPr lIns="0" tIns="0" rIns="0" bIns="0" rtlCol="0" anchor="t">
              <a:spAutoFit/>
            </a:bodyPr>
            <a:lstStyle/>
            <a:p>
              <a:pPr algn="ctr">
                <a:lnSpc>
                  <a:spcPts val="2223"/>
                </a:lnSpc>
                <a:spcBef>
                  <a:spcPct val="0"/>
                </a:spcBef>
              </a:pPr>
              <a:r>
                <a:rPr lang="en-US" sz="1587" b="1" dirty="0">
                  <a:solidFill>
                    <a:srgbClr val="000000"/>
                  </a:solidFill>
                  <a:latin typeface="Canva Sans Bold"/>
                  <a:ea typeface="Canva Sans Bold"/>
                  <a:cs typeface="Canva Sans Bold"/>
                  <a:sym typeface="Canva Sans Bold"/>
                </a:rPr>
                <a:t>Motors</a:t>
              </a:r>
            </a:p>
          </p:txBody>
        </p:sp>
        <p:sp>
          <p:nvSpPr>
            <p:cNvPr id="24" name="TextBox 24"/>
            <p:cNvSpPr txBox="1"/>
            <p:nvPr/>
          </p:nvSpPr>
          <p:spPr>
            <a:xfrm>
              <a:off x="952244" y="2010480"/>
              <a:ext cx="1377517" cy="352622"/>
            </a:xfrm>
            <a:prstGeom prst="rect">
              <a:avLst/>
            </a:prstGeom>
          </p:spPr>
          <p:txBody>
            <a:bodyPr lIns="0" tIns="0" rIns="0" bIns="0" rtlCol="0" anchor="t">
              <a:spAutoFit/>
            </a:bodyPr>
            <a:lstStyle/>
            <a:p>
              <a:pPr algn="ctr">
                <a:lnSpc>
                  <a:spcPts val="2223"/>
                </a:lnSpc>
                <a:spcBef>
                  <a:spcPct val="0"/>
                </a:spcBef>
              </a:pPr>
              <a:r>
                <a:rPr lang="en-US" sz="1587" b="1">
                  <a:solidFill>
                    <a:srgbClr val="000000"/>
                  </a:solidFill>
                  <a:latin typeface="Canva Sans Bold"/>
                  <a:ea typeface="Canva Sans Bold"/>
                  <a:cs typeface="Canva Sans Bold"/>
                  <a:sym typeface="Canva Sans Bold"/>
                </a:rPr>
                <a:t>Camera</a:t>
              </a:r>
            </a:p>
          </p:txBody>
        </p:sp>
        <p:sp>
          <p:nvSpPr>
            <p:cNvPr id="25" name="TextBox 25"/>
            <p:cNvSpPr txBox="1"/>
            <p:nvPr/>
          </p:nvSpPr>
          <p:spPr>
            <a:xfrm>
              <a:off x="552919" y="940430"/>
              <a:ext cx="2536026" cy="311362"/>
            </a:xfrm>
            <a:prstGeom prst="rect">
              <a:avLst/>
            </a:prstGeom>
          </p:spPr>
          <p:txBody>
            <a:bodyPr lIns="0" tIns="0" rIns="0" bIns="0" rtlCol="0" anchor="t">
              <a:spAutoFit/>
            </a:bodyPr>
            <a:lstStyle/>
            <a:p>
              <a:pPr algn="ctr">
                <a:lnSpc>
                  <a:spcPts val="1960"/>
                </a:lnSpc>
              </a:pPr>
              <a:r>
                <a:rPr lang="en-US" sz="1400" b="1">
                  <a:solidFill>
                    <a:srgbClr val="000000"/>
                  </a:solidFill>
                  <a:latin typeface="Canva Sans Bold"/>
                  <a:ea typeface="Canva Sans Bold"/>
                  <a:cs typeface="Canva Sans Bold"/>
                  <a:sym typeface="Canva Sans Bold"/>
                </a:rPr>
                <a:t>System Architecture</a:t>
              </a:r>
            </a:p>
          </p:txBody>
        </p:sp>
        <p:sp>
          <p:nvSpPr>
            <p:cNvPr id="26" name="TextBox 26"/>
            <p:cNvSpPr txBox="1"/>
            <p:nvPr/>
          </p:nvSpPr>
          <p:spPr>
            <a:xfrm>
              <a:off x="0" y="4150394"/>
              <a:ext cx="7831604" cy="1096010"/>
            </a:xfrm>
            <a:prstGeom prst="rect">
              <a:avLst/>
            </a:prstGeom>
          </p:spPr>
          <p:txBody>
            <a:bodyPr lIns="0" tIns="0" rIns="0" bIns="0" rtlCol="0" anchor="t">
              <a:spAutoFit/>
            </a:bodyPr>
            <a:lstStyle/>
            <a:p>
              <a:pPr algn="ctr">
                <a:lnSpc>
                  <a:spcPts val="1679"/>
                </a:lnSpc>
              </a:pPr>
              <a:r>
                <a:rPr lang="en-US" sz="1199" dirty="0">
                  <a:solidFill>
                    <a:srgbClr val="000000"/>
                  </a:solidFill>
                  <a:latin typeface="Canva Sans"/>
                  <a:ea typeface="Canva Sans"/>
                  <a:cs typeface="Canva Sans"/>
                  <a:sym typeface="Canva Sans"/>
                </a:rPr>
                <a:t>The system captures real-time images using a front-mounted camera. The Raspberry Pi processes the images to detect lane boundaries and compute steering commands. These commands are transmitted to an Arduino, which controls the motors and steering servo to achieve autonomous lane following.</a:t>
              </a:r>
            </a:p>
          </p:txBody>
        </p:sp>
      </p:grpSp>
      <p:grpSp>
        <p:nvGrpSpPr>
          <p:cNvPr id="27" name="Group 27"/>
          <p:cNvGrpSpPr/>
          <p:nvPr/>
        </p:nvGrpSpPr>
        <p:grpSpPr>
          <a:xfrm>
            <a:off x="403897" y="12345217"/>
            <a:ext cx="12720373" cy="1494971"/>
            <a:chOff x="0" y="0"/>
            <a:chExt cx="16960498" cy="1993295"/>
          </a:xfrm>
        </p:grpSpPr>
        <p:sp>
          <p:nvSpPr>
            <p:cNvPr id="28" name="Freeform 28"/>
            <p:cNvSpPr/>
            <p:nvPr/>
          </p:nvSpPr>
          <p:spPr>
            <a:xfrm>
              <a:off x="2829243" y="718708"/>
              <a:ext cx="863007" cy="237555"/>
            </a:xfrm>
            <a:custGeom>
              <a:avLst/>
              <a:gdLst/>
              <a:ahLst/>
              <a:cxnLst/>
              <a:rect l="l" t="t" r="r" b="b"/>
              <a:pathLst>
                <a:path w="863007" h="237555">
                  <a:moveTo>
                    <a:pt x="0" y="0"/>
                  </a:moveTo>
                  <a:lnTo>
                    <a:pt x="863008" y="0"/>
                  </a:lnTo>
                  <a:lnTo>
                    <a:pt x="863008" y="237555"/>
                  </a:lnTo>
                  <a:lnTo>
                    <a:pt x="0" y="237555"/>
                  </a:lnTo>
                  <a:lnTo>
                    <a:pt x="0" y="0"/>
                  </a:lnTo>
                  <a:close/>
                </a:path>
              </a:pathLst>
            </a:custGeom>
            <a:blipFill>
              <a:blip>
                <a:extLst>
                  <a:ext uri="{96DAC541-7B7A-43D3-8B79-37D633B846F1}">
                    <asvg:svgBlip xmlns:asvg="http://schemas.microsoft.com/office/drawing/2016/SVG/main" r:embed="rId9"/>
                  </a:ext>
                </a:extLst>
              </a:blip>
              <a:stretch>
                <a:fillRect l="-209361" b="-12387"/>
              </a:stretch>
            </a:blipFill>
          </p:spPr>
          <p:txBody>
            <a:bodyPr/>
            <a:lstStyle/>
            <a:p>
              <a:endParaRPr lang="en-US"/>
            </a:p>
          </p:txBody>
        </p:sp>
        <p:sp>
          <p:nvSpPr>
            <p:cNvPr id="29" name="Freeform 29"/>
            <p:cNvSpPr/>
            <p:nvPr/>
          </p:nvSpPr>
          <p:spPr>
            <a:xfrm>
              <a:off x="0" y="57692"/>
              <a:ext cx="2921921" cy="1421859"/>
            </a:xfrm>
            <a:custGeom>
              <a:avLst/>
              <a:gdLst/>
              <a:ahLst/>
              <a:cxnLst/>
              <a:rect l="l" t="t" r="r" b="b"/>
              <a:pathLst>
                <a:path w="2921921" h="1421859">
                  <a:moveTo>
                    <a:pt x="0" y="0"/>
                  </a:moveTo>
                  <a:lnTo>
                    <a:pt x="2921921" y="0"/>
                  </a:lnTo>
                  <a:lnTo>
                    <a:pt x="2921921" y="1421859"/>
                  </a:lnTo>
                  <a:lnTo>
                    <a:pt x="0" y="1421859"/>
                  </a:lnTo>
                  <a:lnTo>
                    <a:pt x="0" y="0"/>
                  </a:lnTo>
                  <a:close/>
                </a:path>
              </a:pathLst>
            </a:custGeom>
            <a:blipFill>
              <a:blip r:embed="rId10"/>
              <a:stretch>
                <a:fillRect/>
              </a:stretch>
            </a:blipFill>
          </p:spPr>
          <p:txBody>
            <a:bodyPr/>
            <a:lstStyle/>
            <a:p>
              <a:endParaRPr lang="en-US"/>
            </a:p>
          </p:txBody>
        </p:sp>
        <p:sp>
          <p:nvSpPr>
            <p:cNvPr id="30" name="Freeform 30"/>
            <p:cNvSpPr/>
            <p:nvPr/>
          </p:nvSpPr>
          <p:spPr>
            <a:xfrm>
              <a:off x="3544221" y="103018"/>
              <a:ext cx="2723254" cy="1328089"/>
            </a:xfrm>
            <a:custGeom>
              <a:avLst/>
              <a:gdLst/>
              <a:ahLst/>
              <a:cxnLst/>
              <a:rect l="l" t="t" r="r" b="b"/>
              <a:pathLst>
                <a:path w="2723254" h="1328089">
                  <a:moveTo>
                    <a:pt x="0" y="0"/>
                  </a:moveTo>
                  <a:lnTo>
                    <a:pt x="2723254" y="0"/>
                  </a:lnTo>
                  <a:lnTo>
                    <a:pt x="2723254" y="1328090"/>
                  </a:lnTo>
                  <a:lnTo>
                    <a:pt x="0" y="1328090"/>
                  </a:lnTo>
                  <a:lnTo>
                    <a:pt x="0" y="0"/>
                  </a:lnTo>
                  <a:close/>
                </a:path>
              </a:pathLst>
            </a:custGeom>
            <a:blipFill>
              <a:blip r:embed="rId11"/>
              <a:stretch>
                <a:fillRect/>
              </a:stretch>
            </a:blipFill>
          </p:spPr>
          <p:txBody>
            <a:bodyPr/>
            <a:lstStyle/>
            <a:p>
              <a:endParaRPr lang="en-US"/>
            </a:p>
          </p:txBody>
        </p:sp>
        <p:sp>
          <p:nvSpPr>
            <p:cNvPr id="31" name="Freeform 31"/>
            <p:cNvSpPr/>
            <p:nvPr/>
          </p:nvSpPr>
          <p:spPr>
            <a:xfrm>
              <a:off x="13334467" y="649844"/>
              <a:ext cx="863007" cy="237555"/>
            </a:xfrm>
            <a:custGeom>
              <a:avLst/>
              <a:gdLst/>
              <a:ahLst/>
              <a:cxnLst/>
              <a:rect l="l" t="t" r="r" b="b"/>
              <a:pathLst>
                <a:path w="863007" h="237555">
                  <a:moveTo>
                    <a:pt x="0" y="0"/>
                  </a:moveTo>
                  <a:lnTo>
                    <a:pt x="863007" y="0"/>
                  </a:lnTo>
                  <a:lnTo>
                    <a:pt x="863007" y="237555"/>
                  </a:lnTo>
                  <a:lnTo>
                    <a:pt x="0" y="237555"/>
                  </a:lnTo>
                  <a:lnTo>
                    <a:pt x="0" y="0"/>
                  </a:lnTo>
                  <a:close/>
                </a:path>
              </a:pathLst>
            </a:custGeom>
            <a:blipFill>
              <a:blip>
                <a:extLst>
                  <a:ext uri="{96DAC541-7B7A-43D3-8B79-37D633B846F1}">
                    <asvg:svgBlip xmlns:asvg="http://schemas.microsoft.com/office/drawing/2016/SVG/main" r:embed="rId9"/>
                  </a:ext>
                </a:extLst>
              </a:blip>
              <a:stretch>
                <a:fillRect l="-209361" b="-12387"/>
              </a:stretch>
            </a:blipFill>
          </p:spPr>
          <p:txBody>
            <a:bodyPr/>
            <a:lstStyle/>
            <a:p>
              <a:endParaRPr lang="en-US"/>
            </a:p>
          </p:txBody>
        </p:sp>
        <p:sp>
          <p:nvSpPr>
            <p:cNvPr id="32" name="Freeform 32"/>
            <p:cNvSpPr/>
            <p:nvPr/>
          </p:nvSpPr>
          <p:spPr>
            <a:xfrm>
              <a:off x="14004823" y="0"/>
              <a:ext cx="2955675" cy="1431108"/>
            </a:xfrm>
            <a:custGeom>
              <a:avLst/>
              <a:gdLst/>
              <a:ahLst/>
              <a:cxnLst/>
              <a:rect l="l" t="t" r="r" b="b"/>
              <a:pathLst>
                <a:path w="2955675" h="1431108">
                  <a:moveTo>
                    <a:pt x="0" y="0"/>
                  </a:moveTo>
                  <a:lnTo>
                    <a:pt x="2955675" y="0"/>
                  </a:lnTo>
                  <a:lnTo>
                    <a:pt x="2955675" y="1431108"/>
                  </a:lnTo>
                  <a:lnTo>
                    <a:pt x="0" y="1431108"/>
                  </a:lnTo>
                  <a:lnTo>
                    <a:pt x="0" y="0"/>
                  </a:lnTo>
                  <a:close/>
                </a:path>
              </a:pathLst>
            </a:custGeom>
            <a:blipFill>
              <a:blip r:embed="rId12"/>
              <a:stretch>
                <a:fillRect/>
              </a:stretch>
            </a:blipFill>
          </p:spPr>
          <p:txBody>
            <a:bodyPr/>
            <a:lstStyle/>
            <a:p>
              <a:endParaRPr lang="en-US"/>
            </a:p>
          </p:txBody>
        </p:sp>
        <p:sp>
          <p:nvSpPr>
            <p:cNvPr id="33" name="Freeform 33"/>
            <p:cNvSpPr/>
            <p:nvPr/>
          </p:nvSpPr>
          <p:spPr>
            <a:xfrm>
              <a:off x="9708582" y="718708"/>
              <a:ext cx="863007" cy="237555"/>
            </a:xfrm>
            <a:custGeom>
              <a:avLst/>
              <a:gdLst/>
              <a:ahLst/>
              <a:cxnLst/>
              <a:rect l="l" t="t" r="r" b="b"/>
              <a:pathLst>
                <a:path w="863007" h="237555">
                  <a:moveTo>
                    <a:pt x="0" y="0"/>
                  </a:moveTo>
                  <a:lnTo>
                    <a:pt x="863007" y="0"/>
                  </a:lnTo>
                  <a:lnTo>
                    <a:pt x="863007" y="237555"/>
                  </a:lnTo>
                  <a:lnTo>
                    <a:pt x="0" y="237555"/>
                  </a:lnTo>
                  <a:lnTo>
                    <a:pt x="0" y="0"/>
                  </a:lnTo>
                  <a:close/>
                </a:path>
              </a:pathLst>
            </a:custGeom>
            <a:blipFill>
              <a:blip>
                <a:extLst>
                  <a:ext uri="{96DAC541-7B7A-43D3-8B79-37D633B846F1}">
                    <asvg:svgBlip xmlns:asvg="http://schemas.microsoft.com/office/drawing/2016/SVG/main" r:embed="rId9"/>
                  </a:ext>
                </a:extLst>
              </a:blip>
              <a:stretch>
                <a:fillRect l="-209361" b="-12387"/>
              </a:stretch>
            </a:blipFill>
          </p:spPr>
          <p:txBody>
            <a:bodyPr/>
            <a:lstStyle/>
            <a:p>
              <a:endParaRPr lang="en-US"/>
            </a:p>
          </p:txBody>
        </p:sp>
        <p:sp>
          <p:nvSpPr>
            <p:cNvPr id="34" name="Freeform 34"/>
            <p:cNvSpPr/>
            <p:nvPr/>
          </p:nvSpPr>
          <p:spPr>
            <a:xfrm>
              <a:off x="10464176" y="6309"/>
              <a:ext cx="2921921" cy="1424798"/>
            </a:xfrm>
            <a:custGeom>
              <a:avLst/>
              <a:gdLst/>
              <a:ahLst/>
              <a:cxnLst/>
              <a:rect l="l" t="t" r="r" b="b"/>
              <a:pathLst>
                <a:path w="2921921" h="1424798">
                  <a:moveTo>
                    <a:pt x="0" y="0"/>
                  </a:moveTo>
                  <a:lnTo>
                    <a:pt x="2921921" y="0"/>
                  </a:lnTo>
                  <a:lnTo>
                    <a:pt x="2921921" y="1424799"/>
                  </a:lnTo>
                  <a:lnTo>
                    <a:pt x="0" y="1424799"/>
                  </a:lnTo>
                  <a:lnTo>
                    <a:pt x="0" y="0"/>
                  </a:lnTo>
                  <a:close/>
                </a:path>
              </a:pathLst>
            </a:custGeom>
            <a:blipFill>
              <a:blip r:embed="rId13"/>
              <a:stretch>
                <a:fillRect/>
              </a:stretch>
            </a:blipFill>
          </p:spPr>
          <p:txBody>
            <a:bodyPr/>
            <a:lstStyle/>
            <a:p>
              <a:endParaRPr lang="en-US"/>
            </a:p>
          </p:txBody>
        </p:sp>
        <p:sp>
          <p:nvSpPr>
            <p:cNvPr id="35" name="Freeform 35"/>
            <p:cNvSpPr/>
            <p:nvPr/>
          </p:nvSpPr>
          <p:spPr>
            <a:xfrm>
              <a:off x="6267475" y="718708"/>
              <a:ext cx="863007" cy="237555"/>
            </a:xfrm>
            <a:custGeom>
              <a:avLst/>
              <a:gdLst/>
              <a:ahLst/>
              <a:cxnLst/>
              <a:rect l="l" t="t" r="r" b="b"/>
              <a:pathLst>
                <a:path w="863007" h="237555">
                  <a:moveTo>
                    <a:pt x="0" y="0"/>
                  </a:moveTo>
                  <a:lnTo>
                    <a:pt x="863007" y="0"/>
                  </a:lnTo>
                  <a:lnTo>
                    <a:pt x="863007" y="237555"/>
                  </a:lnTo>
                  <a:lnTo>
                    <a:pt x="0" y="237555"/>
                  </a:lnTo>
                  <a:lnTo>
                    <a:pt x="0" y="0"/>
                  </a:lnTo>
                  <a:close/>
                </a:path>
              </a:pathLst>
            </a:custGeom>
            <a:blipFill>
              <a:blip>
                <a:extLst>
                  <a:ext uri="{96DAC541-7B7A-43D3-8B79-37D633B846F1}">
                    <asvg:svgBlip xmlns:asvg="http://schemas.microsoft.com/office/drawing/2016/SVG/main" r:embed="rId9"/>
                  </a:ext>
                </a:extLst>
              </a:blip>
              <a:stretch>
                <a:fillRect l="-209361" b="-12387"/>
              </a:stretch>
            </a:blipFill>
          </p:spPr>
          <p:txBody>
            <a:bodyPr/>
            <a:lstStyle/>
            <a:p>
              <a:endParaRPr lang="en-US"/>
            </a:p>
          </p:txBody>
        </p:sp>
        <p:sp>
          <p:nvSpPr>
            <p:cNvPr id="36" name="Freeform 36"/>
            <p:cNvSpPr/>
            <p:nvPr/>
          </p:nvSpPr>
          <p:spPr>
            <a:xfrm>
              <a:off x="6889775" y="106135"/>
              <a:ext cx="2955675" cy="1324972"/>
            </a:xfrm>
            <a:custGeom>
              <a:avLst/>
              <a:gdLst/>
              <a:ahLst/>
              <a:cxnLst/>
              <a:rect l="l" t="t" r="r" b="b"/>
              <a:pathLst>
                <a:path w="2955675" h="1324972">
                  <a:moveTo>
                    <a:pt x="0" y="0"/>
                  </a:moveTo>
                  <a:lnTo>
                    <a:pt x="2955675" y="0"/>
                  </a:lnTo>
                  <a:lnTo>
                    <a:pt x="2955675" y="1324973"/>
                  </a:lnTo>
                  <a:lnTo>
                    <a:pt x="0" y="1324973"/>
                  </a:lnTo>
                  <a:lnTo>
                    <a:pt x="0" y="0"/>
                  </a:lnTo>
                  <a:close/>
                </a:path>
              </a:pathLst>
            </a:custGeom>
            <a:blipFill>
              <a:blip r:embed="rId14"/>
              <a:stretch>
                <a:fillRect b="-8803"/>
              </a:stretch>
            </a:blipFill>
          </p:spPr>
          <p:txBody>
            <a:bodyPr/>
            <a:lstStyle/>
            <a:p>
              <a:endParaRPr lang="en-US"/>
            </a:p>
          </p:txBody>
        </p:sp>
        <p:sp>
          <p:nvSpPr>
            <p:cNvPr id="37" name="TextBox 37"/>
            <p:cNvSpPr txBox="1"/>
            <p:nvPr/>
          </p:nvSpPr>
          <p:spPr>
            <a:xfrm>
              <a:off x="706785" y="1619873"/>
              <a:ext cx="1264108" cy="311362"/>
            </a:xfrm>
            <a:prstGeom prst="rect">
              <a:avLst/>
            </a:prstGeom>
          </p:spPr>
          <p:txBody>
            <a:bodyPr lIns="0" tIns="0" rIns="0" bIns="0" rtlCol="0" anchor="t">
              <a:spAutoFit/>
            </a:bodyPr>
            <a:lstStyle/>
            <a:p>
              <a:pPr algn="ctr">
                <a:lnSpc>
                  <a:spcPts val="1959"/>
                </a:lnSpc>
                <a:spcBef>
                  <a:spcPct val="0"/>
                </a:spcBef>
              </a:pPr>
              <a:r>
                <a:rPr lang="en-US" sz="1399">
                  <a:solidFill>
                    <a:srgbClr val="000000"/>
                  </a:solidFill>
                  <a:latin typeface="Canva Sans"/>
                  <a:ea typeface="Canva Sans"/>
                  <a:cs typeface="Canva Sans"/>
                  <a:sym typeface="Canva Sans"/>
                </a:rPr>
                <a:t>Raw ROI</a:t>
              </a:r>
            </a:p>
          </p:txBody>
        </p:sp>
        <p:sp>
          <p:nvSpPr>
            <p:cNvPr id="38" name="TextBox 38"/>
            <p:cNvSpPr txBox="1"/>
            <p:nvPr/>
          </p:nvSpPr>
          <p:spPr>
            <a:xfrm>
              <a:off x="4434693" y="1648157"/>
              <a:ext cx="1247880" cy="311362"/>
            </a:xfrm>
            <a:prstGeom prst="rect">
              <a:avLst/>
            </a:prstGeom>
          </p:spPr>
          <p:txBody>
            <a:bodyPr lIns="0" tIns="0" rIns="0" bIns="0" rtlCol="0" anchor="t">
              <a:spAutoFit/>
            </a:bodyPr>
            <a:lstStyle/>
            <a:p>
              <a:pPr algn="ctr">
                <a:lnSpc>
                  <a:spcPts val="1959"/>
                </a:lnSpc>
              </a:pPr>
              <a:r>
                <a:rPr lang="en-US" sz="1399">
                  <a:solidFill>
                    <a:srgbClr val="000000"/>
                  </a:solidFill>
                  <a:latin typeface="Canva Sans"/>
                  <a:ea typeface="Canva Sans"/>
                  <a:cs typeface="Canva Sans"/>
                  <a:sym typeface="Canva Sans"/>
                </a:rPr>
                <a:t>Threshold</a:t>
              </a:r>
            </a:p>
          </p:txBody>
        </p:sp>
        <p:sp>
          <p:nvSpPr>
            <p:cNvPr id="39" name="TextBox 39"/>
            <p:cNvSpPr txBox="1"/>
            <p:nvPr/>
          </p:nvSpPr>
          <p:spPr>
            <a:xfrm>
              <a:off x="7130482" y="1643833"/>
              <a:ext cx="2714968" cy="311362"/>
            </a:xfrm>
            <a:prstGeom prst="rect">
              <a:avLst/>
            </a:prstGeom>
          </p:spPr>
          <p:txBody>
            <a:bodyPr lIns="0" tIns="0" rIns="0" bIns="0" rtlCol="0" anchor="t">
              <a:spAutoFit/>
            </a:bodyPr>
            <a:lstStyle/>
            <a:p>
              <a:pPr algn="ctr">
                <a:lnSpc>
                  <a:spcPts val="1959"/>
                </a:lnSpc>
              </a:pPr>
              <a:r>
                <a:rPr lang="en-US" sz="1399">
                  <a:solidFill>
                    <a:srgbClr val="000000"/>
                  </a:solidFill>
                  <a:latin typeface="Canva Sans"/>
                  <a:ea typeface="Canva Sans"/>
                  <a:cs typeface="Canva Sans"/>
                  <a:sym typeface="Canva Sans"/>
                </a:rPr>
                <a:t>Morphological  Output</a:t>
              </a:r>
            </a:p>
          </p:txBody>
        </p:sp>
        <p:sp>
          <p:nvSpPr>
            <p:cNvPr id="40" name="TextBox 40"/>
            <p:cNvSpPr txBox="1"/>
            <p:nvPr/>
          </p:nvSpPr>
          <p:spPr>
            <a:xfrm>
              <a:off x="11468360" y="1648157"/>
              <a:ext cx="1213394" cy="311362"/>
            </a:xfrm>
            <a:prstGeom prst="rect">
              <a:avLst/>
            </a:prstGeom>
          </p:spPr>
          <p:txBody>
            <a:bodyPr lIns="0" tIns="0" rIns="0" bIns="0" rtlCol="0" anchor="t">
              <a:spAutoFit/>
            </a:bodyPr>
            <a:lstStyle/>
            <a:p>
              <a:pPr algn="ctr">
                <a:lnSpc>
                  <a:spcPts val="1959"/>
                </a:lnSpc>
              </a:pPr>
              <a:r>
                <a:rPr lang="en-US" sz="1399">
                  <a:solidFill>
                    <a:srgbClr val="000000"/>
                  </a:solidFill>
                  <a:latin typeface="Canva Sans"/>
                  <a:ea typeface="Canva Sans"/>
                  <a:cs typeface="Canva Sans"/>
                  <a:sym typeface="Canva Sans"/>
                </a:rPr>
                <a:t>Spline Fit</a:t>
              </a:r>
            </a:p>
          </p:txBody>
        </p:sp>
        <p:sp>
          <p:nvSpPr>
            <p:cNvPr id="41" name="TextBox 41"/>
            <p:cNvSpPr txBox="1"/>
            <p:nvPr/>
          </p:nvSpPr>
          <p:spPr>
            <a:xfrm>
              <a:off x="15074313" y="1681933"/>
              <a:ext cx="1447361" cy="311362"/>
            </a:xfrm>
            <a:prstGeom prst="rect">
              <a:avLst/>
            </a:prstGeom>
          </p:spPr>
          <p:txBody>
            <a:bodyPr lIns="0" tIns="0" rIns="0" bIns="0" rtlCol="0" anchor="t">
              <a:spAutoFit/>
            </a:bodyPr>
            <a:lstStyle/>
            <a:p>
              <a:pPr algn="ctr">
                <a:lnSpc>
                  <a:spcPts val="1959"/>
                </a:lnSpc>
              </a:pPr>
              <a:r>
                <a:rPr lang="en-US" sz="1399">
                  <a:solidFill>
                    <a:srgbClr val="000000"/>
                  </a:solidFill>
                  <a:latin typeface="Canva Sans"/>
                  <a:ea typeface="Canva Sans"/>
                  <a:cs typeface="Canva Sans"/>
                  <a:sym typeface="Canva Sans"/>
                </a:rPr>
                <a:t>Final Output</a:t>
              </a:r>
            </a:p>
          </p:txBody>
        </p:sp>
      </p:grpSp>
      <p:sp>
        <p:nvSpPr>
          <p:cNvPr id="42" name="TextBox 42"/>
          <p:cNvSpPr txBox="1"/>
          <p:nvPr/>
        </p:nvSpPr>
        <p:spPr>
          <a:xfrm>
            <a:off x="3821375" y="13952093"/>
            <a:ext cx="6006991" cy="407670"/>
          </a:xfrm>
          <a:prstGeom prst="rect">
            <a:avLst/>
          </a:prstGeom>
        </p:spPr>
        <p:txBody>
          <a:bodyPr lIns="0" tIns="0" rIns="0" bIns="0" rtlCol="0" anchor="t">
            <a:spAutoFit/>
          </a:bodyPr>
          <a:lstStyle/>
          <a:p>
            <a:pPr algn="just">
              <a:lnSpc>
                <a:spcPts val="1679"/>
              </a:lnSpc>
            </a:pPr>
            <a:r>
              <a:rPr lang="en-US" sz="1200">
                <a:solidFill>
                  <a:srgbClr val="000000"/>
                </a:solidFill>
                <a:latin typeface="Canva Sans"/>
                <a:ea typeface="Canva Sans"/>
                <a:cs typeface="Canva Sans"/>
                <a:sym typeface="Canva Sans"/>
              </a:rPr>
              <a:t>Pipeline illustrating transformation from raw input to final lane detection output.</a:t>
            </a:r>
          </a:p>
          <a:p>
            <a:pPr algn="just">
              <a:lnSpc>
                <a:spcPts val="1679"/>
              </a:lnSpc>
            </a:pPr>
            <a:endParaRPr lang="en-US" sz="1200">
              <a:solidFill>
                <a:srgbClr val="000000"/>
              </a:solidFill>
              <a:latin typeface="Canva Sans"/>
              <a:ea typeface="Canva Sans"/>
              <a:cs typeface="Canva Sans"/>
              <a:sym typeface="Canva Sans"/>
            </a:endParaRPr>
          </a:p>
        </p:txBody>
      </p:sp>
      <p:sp>
        <p:nvSpPr>
          <p:cNvPr id="43" name="Freeform 43"/>
          <p:cNvSpPr/>
          <p:nvPr/>
        </p:nvSpPr>
        <p:spPr>
          <a:xfrm>
            <a:off x="7128518" y="3420505"/>
            <a:ext cx="5873703" cy="8224029"/>
          </a:xfrm>
          <a:custGeom>
            <a:avLst/>
            <a:gdLst/>
            <a:ahLst/>
            <a:cxnLst/>
            <a:rect l="l" t="t" r="r" b="b"/>
            <a:pathLst>
              <a:path w="5165173" h="7825448">
                <a:moveTo>
                  <a:pt x="0" y="0"/>
                </a:moveTo>
                <a:lnTo>
                  <a:pt x="5165173" y="0"/>
                </a:lnTo>
                <a:lnTo>
                  <a:pt x="5165173" y="7825448"/>
                </a:lnTo>
                <a:lnTo>
                  <a:pt x="0" y="7825448"/>
                </a:lnTo>
                <a:lnTo>
                  <a:pt x="0" y="0"/>
                </a:lnTo>
                <a:close/>
              </a:path>
            </a:pathLst>
          </a:custGeom>
          <a:blipFill>
            <a:blip r:embed="rId15"/>
            <a:stretch>
              <a:fillRect l="-898" t="-281" r="-324"/>
            </a:stretch>
          </a:blipFill>
        </p:spPr>
        <p:txBody>
          <a:bodyPr/>
          <a:lstStyle/>
          <a:p>
            <a:endParaRPr lang="en-US"/>
          </a:p>
        </p:txBody>
      </p:sp>
      <p:sp>
        <p:nvSpPr>
          <p:cNvPr id="44" name="Freeform 44"/>
          <p:cNvSpPr/>
          <p:nvPr/>
        </p:nvSpPr>
        <p:spPr>
          <a:xfrm>
            <a:off x="17279832" y="10699898"/>
            <a:ext cx="1094928" cy="1126332"/>
          </a:xfrm>
          <a:custGeom>
            <a:avLst/>
            <a:gdLst/>
            <a:ahLst/>
            <a:cxnLst/>
            <a:rect l="l" t="t" r="r" b="b"/>
            <a:pathLst>
              <a:path w="1159260" h="1159260">
                <a:moveTo>
                  <a:pt x="0" y="0"/>
                </a:moveTo>
                <a:lnTo>
                  <a:pt x="1159260" y="0"/>
                </a:lnTo>
                <a:lnTo>
                  <a:pt x="1159260" y="1159260"/>
                </a:lnTo>
                <a:lnTo>
                  <a:pt x="0" y="1159260"/>
                </a:lnTo>
                <a:lnTo>
                  <a:pt x="0" y="0"/>
                </a:lnTo>
                <a:close/>
              </a:path>
            </a:pathLst>
          </a:custGeom>
          <a:blipFill>
            <a:blip r:embed="rId16"/>
            <a:stretch>
              <a:fillRect/>
            </a:stretch>
          </a:blipFill>
        </p:spPr>
        <p:txBody>
          <a:bodyPr/>
          <a:lstStyle/>
          <a:p>
            <a:endParaRPr lang="en-US"/>
          </a:p>
        </p:txBody>
      </p:sp>
      <p:sp>
        <p:nvSpPr>
          <p:cNvPr id="45" name="Freeform 45"/>
          <p:cNvSpPr/>
          <p:nvPr/>
        </p:nvSpPr>
        <p:spPr>
          <a:xfrm>
            <a:off x="19280396" y="10699898"/>
            <a:ext cx="1094928" cy="1094928"/>
          </a:xfrm>
          <a:custGeom>
            <a:avLst/>
            <a:gdLst/>
            <a:ahLst/>
            <a:cxnLst/>
            <a:rect l="l" t="t" r="r" b="b"/>
            <a:pathLst>
              <a:path w="1094928" h="1094928">
                <a:moveTo>
                  <a:pt x="0" y="0"/>
                </a:moveTo>
                <a:lnTo>
                  <a:pt x="1094927" y="0"/>
                </a:lnTo>
                <a:lnTo>
                  <a:pt x="1094927" y="1094928"/>
                </a:lnTo>
                <a:lnTo>
                  <a:pt x="0" y="1094928"/>
                </a:lnTo>
                <a:lnTo>
                  <a:pt x="0" y="0"/>
                </a:lnTo>
                <a:close/>
              </a:path>
            </a:pathLst>
          </a:custGeom>
          <a:blipFill>
            <a:blip r:embed="rId17"/>
            <a:stretch>
              <a:fillRect/>
            </a:stretch>
          </a:blipFill>
        </p:spPr>
        <p:txBody>
          <a:bodyPr/>
          <a:lstStyle/>
          <a:p>
            <a:endParaRPr lang="en-US"/>
          </a:p>
        </p:txBody>
      </p:sp>
      <p:sp>
        <p:nvSpPr>
          <p:cNvPr id="46" name="TextBox 46"/>
          <p:cNvSpPr txBox="1"/>
          <p:nvPr/>
        </p:nvSpPr>
        <p:spPr>
          <a:xfrm>
            <a:off x="13933852" y="3674013"/>
            <a:ext cx="1109377" cy="378812"/>
          </a:xfrm>
          <a:prstGeom prst="rect">
            <a:avLst/>
          </a:prstGeom>
        </p:spPr>
        <p:txBody>
          <a:bodyPr lIns="0" tIns="0" rIns="0" bIns="0" rtlCol="0" anchor="t">
            <a:spAutoFit/>
          </a:bodyPr>
          <a:lstStyle/>
          <a:p>
            <a:pPr marL="0" lvl="0" indent="0" algn="ctr">
              <a:lnSpc>
                <a:spcPts val="3086"/>
              </a:lnSpc>
              <a:spcBef>
                <a:spcPct val="0"/>
              </a:spcBef>
            </a:pPr>
            <a:r>
              <a:rPr lang="en-US" sz="2204" b="1" u="none" strike="noStrike">
                <a:solidFill>
                  <a:srgbClr val="000000"/>
                </a:solidFill>
                <a:latin typeface="Glacial Indifference Bold"/>
                <a:ea typeface="Glacial Indifference Bold"/>
                <a:cs typeface="Glacial Indifference Bold"/>
                <a:sym typeface="Glacial Indifference Bold"/>
              </a:rPr>
              <a:t>Results</a:t>
            </a:r>
          </a:p>
        </p:txBody>
      </p:sp>
      <p:sp>
        <p:nvSpPr>
          <p:cNvPr id="47" name="TextBox 47"/>
          <p:cNvSpPr txBox="1"/>
          <p:nvPr/>
        </p:nvSpPr>
        <p:spPr>
          <a:xfrm>
            <a:off x="2271067" y="2313066"/>
            <a:ext cx="17136000" cy="1006686"/>
          </a:xfrm>
          <a:prstGeom prst="rect">
            <a:avLst/>
          </a:prstGeom>
        </p:spPr>
        <p:txBody>
          <a:bodyPr lIns="0" tIns="0" rIns="0" bIns="0" rtlCol="0" anchor="t">
            <a:spAutoFit/>
          </a:bodyPr>
          <a:lstStyle/>
          <a:p>
            <a:pPr algn="ctr">
              <a:lnSpc>
                <a:spcPts val="1960"/>
              </a:lnSpc>
            </a:pPr>
            <a:r>
              <a:rPr lang="en-US" sz="1400" dirty="0">
                <a:solidFill>
                  <a:srgbClr val="FFFFFF"/>
                </a:solidFill>
                <a:latin typeface="Roboto"/>
                <a:ea typeface="Roboto"/>
                <a:cs typeface="Roboto"/>
                <a:sym typeface="Roboto"/>
              </a:rPr>
              <a:t>Youssef Mohamed 55-1031 ,Somaya Magdy 55-5027 ,Bassam Walid 55-0499 ,</a:t>
            </a:r>
            <a:r>
              <a:rPr lang="en-US" sz="1400" dirty="0" err="1">
                <a:solidFill>
                  <a:srgbClr val="FFFFFF"/>
                </a:solidFill>
                <a:latin typeface="Roboto"/>
                <a:ea typeface="Roboto"/>
                <a:cs typeface="Roboto"/>
                <a:sym typeface="Roboto"/>
              </a:rPr>
              <a:t>Styven</a:t>
            </a:r>
            <a:r>
              <a:rPr lang="en-US" sz="1400" dirty="0">
                <a:solidFill>
                  <a:srgbClr val="FFFFFF"/>
                </a:solidFill>
                <a:latin typeface="Roboto"/>
                <a:ea typeface="Roboto"/>
                <a:cs typeface="Roboto"/>
                <a:sym typeface="Roboto"/>
              </a:rPr>
              <a:t> Hany 55-10067,Mostafa </a:t>
            </a:r>
            <a:r>
              <a:rPr lang="en-US" sz="1400" dirty="0" err="1">
                <a:solidFill>
                  <a:srgbClr val="FFFFFF"/>
                </a:solidFill>
                <a:latin typeface="Roboto"/>
                <a:ea typeface="Roboto"/>
                <a:cs typeface="Roboto"/>
                <a:sym typeface="Roboto"/>
              </a:rPr>
              <a:t>Shakweer</a:t>
            </a:r>
            <a:r>
              <a:rPr lang="en-US" sz="1400" dirty="0">
                <a:solidFill>
                  <a:srgbClr val="FFFFFF"/>
                </a:solidFill>
                <a:latin typeface="Roboto"/>
                <a:ea typeface="Roboto"/>
                <a:cs typeface="Roboto"/>
                <a:sym typeface="Roboto"/>
              </a:rPr>
              <a:t> 56-29282 ,Hassan Yasser 55-26164</a:t>
            </a:r>
          </a:p>
          <a:p>
            <a:pPr algn="ctr">
              <a:lnSpc>
                <a:spcPts val="1960"/>
              </a:lnSpc>
            </a:pPr>
            <a:r>
              <a:rPr lang="en-US" sz="1400" dirty="0">
                <a:solidFill>
                  <a:srgbClr val="FFFFFF"/>
                </a:solidFill>
                <a:latin typeface="Glacial Indifference"/>
                <a:ea typeface="Glacial Indifference"/>
                <a:cs typeface="Glacial Indifference"/>
                <a:sym typeface="Glacial Indifference"/>
              </a:rPr>
              <a:t>youssef.abodeb,somaya.kilany,bassam.aboelhamaid,styven.ghaly,mostafa.shakweer,hassan.yasser@student.guc.edu.eg</a:t>
            </a:r>
          </a:p>
          <a:p>
            <a:pPr algn="ctr">
              <a:lnSpc>
                <a:spcPts val="1960"/>
              </a:lnSpc>
            </a:pPr>
            <a:r>
              <a:rPr lang="en-US" sz="1400" dirty="0">
                <a:solidFill>
                  <a:srgbClr val="FFFFFF"/>
                </a:solidFill>
                <a:latin typeface="Roboto"/>
                <a:ea typeface="Roboto"/>
                <a:cs typeface="Roboto"/>
                <a:sym typeface="Roboto"/>
              </a:rPr>
              <a:t>Course Instructors: Assoc. Prof. Dr. Eng. Omar M. Shehata, Eng. Dalia M. Mahfouz, PhD, Eng. Abdelrahman Hatem, MSc. And Eng. Mohammed Ashraf</a:t>
            </a:r>
          </a:p>
          <a:p>
            <a:pPr algn="ctr">
              <a:lnSpc>
                <a:spcPts val="1960"/>
              </a:lnSpc>
            </a:pPr>
            <a:endParaRPr lang="en-US" sz="1400" dirty="0">
              <a:solidFill>
                <a:srgbClr val="FFFFFF"/>
              </a:solidFill>
              <a:latin typeface="Roboto"/>
              <a:ea typeface="Roboto"/>
              <a:cs typeface="Roboto"/>
              <a:sym typeface="Roboto"/>
            </a:endParaRPr>
          </a:p>
        </p:txBody>
      </p:sp>
      <p:sp>
        <p:nvSpPr>
          <p:cNvPr id="48" name="TextBox 48"/>
          <p:cNvSpPr txBox="1"/>
          <p:nvPr/>
        </p:nvSpPr>
        <p:spPr>
          <a:xfrm>
            <a:off x="4476631" y="425050"/>
            <a:ext cx="12117473" cy="1228215"/>
          </a:xfrm>
          <a:prstGeom prst="rect">
            <a:avLst/>
          </a:prstGeom>
        </p:spPr>
        <p:txBody>
          <a:bodyPr lIns="0" tIns="0" rIns="0" bIns="0" rtlCol="0" anchor="t">
            <a:spAutoFit/>
          </a:bodyPr>
          <a:lstStyle/>
          <a:p>
            <a:pPr algn="ctr">
              <a:lnSpc>
                <a:spcPts val="4931"/>
              </a:lnSpc>
            </a:pPr>
            <a:r>
              <a:rPr lang="en-US" sz="3522" b="1">
                <a:solidFill>
                  <a:srgbClr val="FFFFFF"/>
                </a:solidFill>
                <a:latin typeface="Glacial Indifference Bold"/>
                <a:ea typeface="Glacial Indifference Bold"/>
                <a:cs typeface="Glacial Indifference Bold"/>
                <a:sym typeface="Glacial Indifference Bold"/>
              </a:rPr>
              <a:t>VISION-BASED LANE DETECTION AND CONTROL FOR AUTONOMOUS VEHICLES</a:t>
            </a:r>
          </a:p>
        </p:txBody>
      </p:sp>
      <p:sp>
        <p:nvSpPr>
          <p:cNvPr id="49" name="TextBox 49"/>
          <p:cNvSpPr txBox="1"/>
          <p:nvPr/>
        </p:nvSpPr>
        <p:spPr>
          <a:xfrm>
            <a:off x="7385511" y="1662790"/>
            <a:ext cx="6619725" cy="576280"/>
          </a:xfrm>
          <a:prstGeom prst="rect">
            <a:avLst/>
          </a:prstGeom>
        </p:spPr>
        <p:txBody>
          <a:bodyPr lIns="0" tIns="0" rIns="0" bIns="0" rtlCol="0" anchor="t">
            <a:spAutoFit/>
          </a:bodyPr>
          <a:lstStyle/>
          <a:p>
            <a:pPr algn="ctr">
              <a:lnSpc>
                <a:spcPts val="2374"/>
              </a:lnSpc>
            </a:pPr>
            <a:r>
              <a:rPr lang="en-US" sz="1696" b="1">
                <a:solidFill>
                  <a:srgbClr val="000000"/>
                </a:solidFill>
                <a:latin typeface="Glacial Indifference Bold"/>
                <a:ea typeface="Glacial Indifference Bold"/>
                <a:cs typeface="Glacial Indifference Bold"/>
                <a:sym typeface="Glacial Indifference Bold"/>
              </a:rPr>
              <a:t>Image Processing for Mechatronics MCTR1010</a:t>
            </a:r>
          </a:p>
          <a:p>
            <a:pPr algn="ctr">
              <a:lnSpc>
                <a:spcPts val="2374"/>
              </a:lnSpc>
            </a:pPr>
            <a:r>
              <a:rPr lang="en-US" sz="1696" b="1">
                <a:solidFill>
                  <a:srgbClr val="000000"/>
                </a:solidFill>
                <a:latin typeface="Glacial Indifference Bold"/>
                <a:ea typeface="Glacial Indifference Bold"/>
                <a:cs typeface="Glacial Indifference Bold"/>
                <a:sym typeface="Glacial Indifference Bold"/>
              </a:rPr>
              <a:t>SPRING 2026</a:t>
            </a:r>
          </a:p>
        </p:txBody>
      </p:sp>
      <p:grpSp>
        <p:nvGrpSpPr>
          <p:cNvPr id="50" name="Group 50"/>
          <p:cNvGrpSpPr/>
          <p:nvPr/>
        </p:nvGrpSpPr>
        <p:grpSpPr>
          <a:xfrm>
            <a:off x="675141" y="3731026"/>
            <a:ext cx="4932382" cy="2810043"/>
            <a:chOff x="0" y="0"/>
            <a:chExt cx="6576510" cy="3746724"/>
          </a:xfrm>
        </p:grpSpPr>
        <p:sp>
          <p:nvSpPr>
            <p:cNvPr id="51" name="TextBox 51"/>
            <p:cNvSpPr txBox="1"/>
            <p:nvPr/>
          </p:nvSpPr>
          <p:spPr>
            <a:xfrm>
              <a:off x="0" y="-38100"/>
              <a:ext cx="1723000" cy="484133"/>
            </a:xfrm>
            <a:prstGeom prst="rect">
              <a:avLst/>
            </a:prstGeom>
          </p:spPr>
          <p:txBody>
            <a:bodyPr lIns="0" tIns="0" rIns="0" bIns="0" rtlCol="0" anchor="t">
              <a:spAutoFit/>
            </a:bodyPr>
            <a:lstStyle/>
            <a:p>
              <a:pPr marL="0" lvl="0" indent="0" algn="ctr">
                <a:lnSpc>
                  <a:spcPts val="3086"/>
                </a:lnSpc>
                <a:spcBef>
                  <a:spcPct val="0"/>
                </a:spcBef>
              </a:pPr>
              <a:r>
                <a:rPr lang="en-US" sz="2204" b="1">
                  <a:solidFill>
                    <a:srgbClr val="000000"/>
                  </a:solidFill>
                  <a:latin typeface="Canva Sans Bold"/>
                  <a:ea typeface="Canva Sans Bold"/>
                  <a:cs typeface="Canva Sans Bold"/>
                  <a:sym typeface="Canva Sans Bold"/>
                </a:rPr>
                <a:t>Abstract</a:t>
              </a:r>
            </a:p>
          </p:txBody>
        </p:sp>
        <p:sp>
          <p:nvSpPr>
            <p:cNvPr id="52" name="TextBox 52"/>
            <p:cNvSpPr txBox="1"/>
            <p:nvPr/>
          </p:nvSpPr>
          <p:spPr>
            <a:xfrm>
              <a:off x="0" y="694914"/>
              <a:ext cx="6576510" cy="3051810"/>
            </a:xfrm>
            <a:prstGeom prst="rect">
              <a:avLst/>
            </a:prstGeom>
          </p:spPr>
          <p:txBody>
            <a:bodyPr lIns="0" tIns="0" rIns="0" bIns="0" rtlCol="0" anchor="t">
              <a:spAutoFit/>
            </a:bodyPr>
            <a:lstStyle/>
            <a:p>
              <a:pPr algn="l">
                <a:lnSpc>
                  <a:spcPts val="1679"/>
                </a:lnSpc>
              </a:pPr>
              <a:r>
                <a:rPr lang="en-US" sz="1199">
                  <a:solidFill>
                    <a:srgbClr val="000000"/>
                  </a:solidFill>
                  <a:latin typeface="Canva Sans"/>
                  <a:ea typeface="Canva Sans"/>
                  <a:cs typeface="Canva Sans"/>
                  <a:sym typeface="Canva Sans"/>
                </a:rPr>
                <a:t>This project presents a real-time vision-based lane detection and autonomous navigation system for a mobile robot. A Raspberry Pi processes camera images using ROI extraction, thresholding, and spline-based lane modeling to detect lane boundaries and estimate the lane center. A homography transformation enables metric-based perception, while a Pure Pursuit controller generates steering commands based on lateral error. The system operates in real time at 20.82 FPS, achieving 100% target availability and stable lane-following performance. Results demonstrate robustness under varying conditions, with limitations related to lighting sensitivity and camera calibration.</a:t>
              </a:r>
            </a:p>
          </p:txBody>
        </p:sp>
      </p:grpSp>
      <p:sp>
        <p:nvSpPr>
          <p:cNvPr id="53" name="TextBox 53"/>
          <p:cNvSpPr txBox="1"/>
          <p:nvPr/>
        </p:nvSpPr>
        <p:spPr>
          <a:xfrm>
            <a:off x="13962326" y="12387276"/>
            <a:ext cx="1393552" cy="360722"/>
          </a:xfrm>
          <a:prstGeom prst="rect">
            <a:avLst/>
          </a:prstGeom>
        </p:spPr>
        <p:txBody>
          <a:bodyPr lIns="0" tIns="0" rIns="0" bIns="0" rtlCol="0" anchor="t">
            <a:spAutoFit/>
          </a:bodyPr>
          <a:lstStyle/>
          <a:p>
            <a:pPr marL="0" lvl="0" indent="0" algn="ctr">
              <a:lnSpc>
                <a:spcPts val="2918"/>
              </a:lnSpc>
              <a:spcBef>
                <a:spcPct val="0"/>
              </a:spcBef>
            </a:pPr>
            <a:r>
              <a:rPr lang="en-US" sz="2084" b="1" u="none" strike="noStrike" dirty="0">
                <a:solidFill>
                  <a:srgbClr val="000000"/>
                </a:solidFill>
                <a:latin typeface="Glacial Indifference Bold"/>
                <a:ea typeface="Glacial Indifference Bold"/>
                <a:cs typeface="Glacial Indifference Bold"/>
                <a:sym typeface="Glacial Indifference Bold"/>
              </a:rPr>
              <a:t>Conclusion</a:t>
            </a:r>
          </a:p>
        </p:txBody>
      </p:sp>
      <p:sp>
        <p:nvSpPr>
          <p:cNvPr id="54" name="TextBox 54"/>
          <p:cNvSpPr txBox="1"/>
          <p:nvPr/>
        </p:nvSpPr>
        <p:spPr>
          <a:xfrm>
            <a:off x="13940815" y="13028027"/>
            <a:ext cx="3059360" cy="919480"/>
          </a:xfrm>
          <a:prstGeom prst="rect">
            <a:avLst/>
          </a:prstGeom>
        </p:spPr>
        <p:txBody>
          <a:bodyPr lIns="0" tIns="0" rIns="0" bIns="0" rtlCol="0" anchor="t">
            <a:spAutoFit/>
          </a:bodyPr>
          <a:lstStyle/>
          <a:p>
            <a:pPr marL="280669" lvl="1" indent="-140335" algn="l">
              <a:lnSpc>
                <a:spcPts val="1819"/>
              </a:lnSpc>
              <a:buFont typeface="Arial"/>
              <a:buChar char="•"/>
            </a:pPr>
            <a:r>
              <a:rPr lang="en-US" sz="1299" dirty="0">
                <a:solidFill>
                  <a:srgbClr val="000000"/>
                </a:solidFill>
                <a:latin typeface="Canva Sans"/>
                <a:ea typeface="Canva Sans"/>
                <a:cs typeface="Canva Sans"/>
                <a:sym typeface="Canva Sans"/>
              </a:rPr>
              <a:t>Real-time lane following achieved (20.82 FPS)</a:t>
            </a:r>
          </a:p>
          <a:p>
            <a:pPr marL="280669" lvl="1" indent="-140335" algn="l">
              <a:lnSpc>
                <a:spcPts val="1819"/>
              </a:lnSpc>
              <a:buFont typeface="Arial"/>
              <a:buChar char="•"/>
            </a:pPr>
            <a:r>
              <a:rPr lang="en-US" sz="1299" dirty="0">
                <a:solidFill>
                  <a:srgbClr val="000000"/>
                </a:solidFill>
                <a:latin typeface="Canva Sans"/>
                <a:ea typeface="Canva Sans"/>
                <a:cs typeface="Canva Sans"/>
                <a:sym typeface="Canva Sans"/>
              </a:rPr>
              <a:t>100% target availability</a:t>
            </a:r>
          </a:p>
          <a:p>
            <a:pPr algn="ctr">
              <a:lnSpc>
                <a:spcPts val="1819"/>
              </a:lnSpc>
            </a:pPr>
            <a:endParaRPr lang="en-US" sz="1299" dirty="0">
              <a:solidFill>
                <a:srgbClr val="000000"/>
              </a:solidFill>
              <a:latin typeface="Canva Sans"/>
              <a:ea typeface="Canva Sans"/>
              <a:cs typeface="Canva Sans"/>
              <a:sym typeface="Canva Sans"/>
            </a:endParaRPr>
          </a:p>
        </p:txBody>
      </p:sp>
      <p:sp>
        <p:nvSpPr>
          <p:cNvPr id="55" name="TextBox 55"/>
          <p:cNvSpPr txBox="1"/>
          <p:nvPr/>
        </p:nvSpPr>
        <p:spPr>
          <a:xfrm>
            <a:off x="17801145" y="13058632"/>
            <a:ext cx="3059360" cy="690880"/>
          </a:xfrm>
          <a:prstGeom prst="rect">
            <a:avLst/>
          </a:prstGeom>
        </p:spPr>
        <p:txBody>
          <a:bodyPr lIns="0" tIns="0" rIns="0" bIns="0" rtlCol="0" anchor="t">
            <a:spAutoFit/>
          </a:bodyPr>
          <a:lstStyle/>
          <a:p>
            <a:pPr marL="280669" lvl="1" indent="-140335" algn="l">
              <a:lnSpc>
                <a:spcPts val="1819"/>
              </a:lnSpc>
              <a:buFont typeface="Arial"/>
              <a:buChar char="•"/>
            </a:pPr>
            <a:r>
              <a:rPr lang="en-US" sz="1299" dirty="0">
                <a:solidFill>
                  <a:srgbClr val="000000"/>
                </a:solidFill>
                <a:latin typeface="Canva Sans"/>
                <a:ea typeface="Canva Sans"/>
                <a:cs typeface="Canva Sans"/>
                <a:sym typeface="Canva Sans"/>
              </a:rPr>
              <a:t>Robust under multiple scenarios</a:t>
            </a:r>
          </a:p>
          <a:p>
            <a:pPr marL="280669" lvl="1" indent="-140335" algn="l">
              <a:lnSpc>
                <a:spcPts val="1819"/>
              </a:lnSpc>
              <a:buFont typeface="Arial"/>
              <a:buChar char="•"/>
            </a:pPr>
            <a:r>
              <a:rPr lang="en-US" sz="1299" dirty="0">
                <a:solidFill>
                  <a:srgbClr val="000000"/>
                </a:solidFill>
                <a:latin typeface="Canva Sans"/>
                <a:ea typeface="Canva Sans"/>
                <a:cs typeface="Canva Sans"/>
                <a:sym typeface="Canva Sans"/>
              </a:rPr>
              <a:t>Limited by lighting and calibration</a:t>
            </a:r>
          </a:p>
          <a:p>
            <a:pPr algn="ctr">
              <a:lnSpc>
                <a:spcPts val="1819"/>
              </a:lnSpc>
            </a:pPr>
            <a:endParaRPr lang="en-US" sz="1299" dirty="0">
              <a:solidFill>
                <a:srgbClr val="000000"/>
              </a:solidFill>
              <a:latin typeface="Canva Sans"/>
              <a:ea typeface="Canva Sans"/>
              <a:cs typeface="Canva Sans"/>
              <a:sym typeface="Canva Sans"/>
            </a:endParaRPr>
          </a:p>
        </p:txBody>
      </p:sp>
      <p:grpSp>
        <p:nvGrpSpPr>
          <p:cNvPr id="56" name="Group 56"/>
          <p:cNvGrpSpPr/>
          <p:nvPr/>
        </p:nvGrpSpPr>
        <p:grpSpPr>
          <a:xfrm>
            <a:off x="13698012" y="4412915"/>
            <a:ext cx="6563837" cy="3591539"/>
            <a:chOff x="0" y="0"/>
            <a:chExt cx="8751782" cy="4788719"/>
          </a:xfrm>
        </p:grpSpPr>
        <p:sp>
          <p:nvSpPr>
            <p:cNvPr id="58" name="TextBox 58"/>
            <p:cNvSpPr txBox="1"/>
            <p:nvPr/>
          </p:nvSpPr>
          <p:spPr>
            <a:xfrm>
              <a:off x="0" y="4185046"/>
              <a:ext cx="8751782" cy="603673"/>
            </a:xfrm>
            <a:prstGeom prst="rect">
              <a:avLst/>
            </a:prstGeom>
          </p:spPr>
          <p:txBody>
            <a:bodyPr lIns="0" tIns="0" rIns="0" bIns="0" rtlCol="0" anchor="t">
              <a:spAutoFit/>
            </a:bodyPr>
            <a:lstStyle/>
            <a:p>
              <a:pPr algn="ctr">
                <a:lnSpc>
                  <a:spcPts val="1819"/>
                </a:lnSpc>
              </a:pPr>
              <a:r>
                <a:rPr lang="en-US" sz="1299">
                  <a:solidFill>
                    <a:srgbClr val="000000"/>
                  </a:solidFill>
                  <a:latin typeface="Canva Sans"/>
                  <a:ea typeface="Canva Sans"/>
                  <a:cs typeface="Canva Sans"/>
                  <a:sym typeface="Canva Sans"/>
                </a:rPr>
                <a:t>Real-time performance with low latency and stable control. Robust operation under dual and single-lane conditions.</a:t>
              </a:r>
            </a:p>
          </p:txBody>
        </p:sp>
      </p:grpSp>
      <p:graphicFrame>
        <p:nvGraphicFramePr>
          <p:cNvPr id="57" name="Table 57"/>
          <p:cNvGraphicFramePr>
            <a:graphicFrameLocks noGrp="1"/>
          </p:cNvGraphicFramePr>
          <p:nvPr>
            <p:extLst>
              <p:ext uri="{D42A27DB-BD31-4B8C-83A1-F6EECF244321}">
                <p14:modId xmlns:p14="http://schemas.microsoft.com/office/powerpoint/2010/main" val="700707898"/>
              </p:ext>
            </p:extLst>
          </p:nvPr>
        </p:nvGraphicFramePr>
        <p:xfrm>
          <a:off x="13933852" y="4401396"/>
          <a:ext cx="5679083" cy="2740132"/>
        </p:xfrm>
        <a:graphic>
          <a:graphicData uri="http://schemas.openxmlformats.org/drawingml/2006/table">
            <a:tbl>
              <a:tblPr/>
              <a:tblGrid>
                <a:gridCol w="3013562">
                  <a:extLst>
                    <a:ext uri="{9D8B030D-6E8A-4147-A177-3AD203B41FA5}">
                      <a16:colId xmlns:a16="http://schemas.microsoft.com/office/drawing/2014/main" val="20000"/>
                    </a:ext>
                  </a:extLst>
                </a:gridCol>
                <a:gridCol w="2665521">
                  <a:extLst>
                    <a:ext uri="{9D8B030D-6E8A-4147-A177-3AD203B41FA5}">
                      <a16:colId xmlns:a16="http://schemas.microsoft.com/office/drawing/2014/main" val="20001"/>
                    </a:ext>
                  </a:extLst>
                </a:gridCol>
              </a:tblGrid>
              <a:tr h="381635">
                <a:tc>
                  <a:txBody>
                    <a:bodyPr/>
                    <a:lstStyle/>
                    <a:p>
                      <a:pPr algn="just">
                        <a:lnSpc>
                          <a:spcPts val="1719"/>
                        </a:lnSpc>
                        <a:defRPr/>
                      </a:pPr>
                      <a:r>
                        <a:rPr lang="en-US" sz="1999" b="1" spc="205" dirty="0">
                          <a:solidFill>
                            <a:srgbClr val="FFFFFF"/>
                          </a:solidFill>
                          <a:latin typeface="Canva Sans Bold"/>
                          <a:ea typeface="Canva Sans Bold"/>
                          <a:cs typeface="Canva Sans Bold"/>
                          <a:sym typeface="Canva Sans Bold"/>
                        </a:rPr>
                        <a:t>Metric</a:t>
                      </a:r>
                      <a:endParaRPr lang="en-US" sz="1100" dirty="0"/>
                    </a:p>
                  </a:txBody>
                  <a:tcPr marL="76200" marR="76200" marT="76200" marB="76200" anchor="ctr">
                    <a:lnL w="0" cap="flat" cmpd="sng" algn="ctr">
                      <a:solidFill>
                        <a:srgbClr val="1C68AA"/>
                      </a:solidFill>
                      <a:prstDash val="solid"/>
                      <a:round/>
                      <a:headEnd type="none" w="med" len="med"/>
                      <a:tailEnd type="none" w="med" len="med"/>
                    </a:lnL>
                    <a:lnR w="0" cap="flat" cmpd="sng" algn="ctr">
                      <a:solidFill>
                        <a:srgbClr val="1C68AA"/>
                      </a:solidFill>
                      <a:prstDash val="solid"/>
                      <a:round/>
                      <a:headEnd type="none" w="med" len="med"/>
                      <a:tailEnd type="none" w="med" len="med"/>
                    </a:lnR>
                    <a:lnT w="0"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solidFill>
                      <a:srgbClr val="1C68AA"/>
                    </a:solidFill>
                  </a:tcPr>
                </a:tc>
                <a:tc>
                  <a:txBody>
                    <a:bodyPr/>
                    <a:lstStyle/>
                    <a:p>
                      <a:pPr algn="just">
                        <a:lnSpc>
                          <a:spcPts val="1719"/>
                        </a:lnSpc>
                        <a:defRPr/>
                      </a:pPr>
                      <a:r>
                        <a:rPr lang="en-US" sz="1999" b="1" spc="205" dirty="0">
                          <a:solidFill>
                            <a:srgbClr val="FFFFFF"/>
                          </a:solidFill>
                          <a:latin typeface="Canva Sans Bold"/>
                          <a:ea typeface="Canva Sans Bold"/>
                          <a:cs typeface="Canva Sans Bold"/>
                          <a:sym typeface="Canva Sans Bold"/>
                        </a:rPr>
                        <a:t>Value</a:t>
                      </a:r>
                      <a:endParaRPr lang="en-US" sz="1100" dirty="0"/>
                    </a:p>
                  </a:txBody>
                  <a:tcPr marL="76200" marR="76200" marT="76200" marB="76200" anchor="ctr">
                    <a:lnL w="0" cap="flat" cmpd="sng" algn="ctr">
                      <a:solidFill>
                        <a:srgbClr val="1C68AA"/>
                      </a:solidFill>
                      <a:prstDash val="solid"/>
                      <a:round/>
                      <a:headEnd type="none" w="med" len="med"/>
                      <a:tailEnd type="none" w="med" len="med"/>
                    </a:lnL>
                    <a:lnR w="0" cap="flat" cmpd="sng" algn="ctr">
                      <a:solidFill>
                        <a:srgbClr val="1C68AA"/>
                      </a:solidFill>
                      <a:prstDash val="solid"/>
                      <a:round/>
                      <a:headEnd type="none" w="med" len="med"/>
                      <a:tailEnd type="none" w="med" len="med"/>
                    </a:lnR>
                    <a:lnT w="0"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solidFill>
                      <a:srgbClr val="1C68AA"/>
                    </a:solidFill>
                  </a:tcPr>
                </a:tc>
                <a:extLst>
                  <a:ext uri="{0D108BD9-81ED-4DB2-BD59-A6C34878D82A}">
                    <a16:rowId xmlns:a16="http://schemas.microsoft.com/office/drawing/2014/main" val="10000"/>
                  </a:ext>
                </a:extLst>
              </a:tr>
              <a:tr h="467648">
                <a:tc>
                  <a:txBody>
                    <a:bodyPr/>
                    <a:lstStyle/>
                    <a:p>
                      <a:pPr algn="just">
                        <a:lnSpc>
                          <a:spcPts val="1032"/>
                        </a:lnSpc>
                        <a:defRPr/>
                      </a:pPr>
                      <a:r>
                        <a:rPr lang="en-US" sz="1200" spc="123">
                          <a:solidFill>
                            <a:srgbClr val="000000"/>
                          </a:solidFill>
                          <a:latin typeface="Canva Sans"/>
                          <a:ea typeface="Canva Sans"/>
                          <a:cs typeface="Canva Sans"/>
                          <a:sym typeface="Canva Sans"/>
                        </a:rPr>
                        <a:t>FPS</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tc>
                  <a:txBody>
                    <a:bodyPr/>
                    <a:lstStyle/>
                    <a:p>
                      <a:pPr algn="just">
                        <a:lnSpc>
                          <a:spcPts val="1032"/>
                        </a:lnSpc>
                        <a:defRPr/>
                      </a:pPr>
                      <a:r>
                        <a:rPr lang="en-US" sz="1200" spc="123">
                          <a:solidFill>
                            <a:srgbClr val="000000"/>
                          </a:solidFill>
                          <a:latin typeface="Canva Sans"/>
                          <a:ea typeface="Canva Sans"/>
                          <a:cs typeface="Canva Sans"/>
                          <a:sym typeface="Canva Sans"/>
                        </a:rPr>
                        <a:t>20.82</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extLst>
                  <a:ext uri="{0D108BD9-81ED-4DB2-BD59-A6C34878D82A}">
                    <a16:rowId xmlns:a16="http://schemas.microsoft.com/office/drawing/2014/main" val="10001"/>
                  </a:ext>
                </a:extLst>
              </a:tr>
              <a:tr h="435565">
                <a:tc>
                  <a:txBody>
                    <a:bodyPr/>
                    <a:lstStyle/>
                    <a:p>
                      <a:pPr algn="just">
                        <a:lnSpc>
                          <a:spcPts val="1032"/>
                        </a:lnSpc>
                        <a:defRPr/>
                      </a:pPr>
                      <a:r>
                        <a:rPr lang="en-US" sz="1200" spc="123">
                          <a:solidFill>
                            <a:srgbClr val="000000"/>
                          </a:solidFill>
                          <a:latin typeface="Canva Sans"/>
                          <a:ea typeface="Canva Sans"/>
                          <a:cs typeface="Canva Sans"/>
                          <a:sym typeface="Canva Sans"/>
                        </a:rPr>
                        <a:t>Processing Latency</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tc>
                  <a:txBody>
                    <a:bodyPr/>
                    <a:lstStyle/>
                    <a:p>
                      <a:pPr algn="just">
                        <a:lnSpc>
                          <a:spcPts val="1032"/>
                        </a:lnSpc>
                        <a:defRPr/>
                      </a:pPr>
                      <a:r>
                        <a:rPr lang="en-US" sz="1200" spc="123">
                          <a:solidFill>
                            <a:srgbClr val="000000"/>
                          </a:solidFill>
                          <a:latin typeface="Canva Sans"/>
                          <a:ea typeface="Canva Sans"/>
                          <a:cs typeface="Canva Sans"/>
                          <a:sym typeface="Canva Sans"/>
                        </a:rPr>
                        <a:t>38.57 ms</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extLst>
                  <a:ext uri="{0D108BD9-81ED-4DB2-BD59-A6C34878D82A}">
                    <a16:rowId xmlns:a16="http://schemas.microsoft.com/office/drawing/2014/main" val="10002"/>
                  </a:ext>
                </a:extLst>
              </a:tr>
              <a:tr h="419433">
                <a:tc>
                  <a:txBody>
                    <a:bodyPr/>
                    <a:lstStyle/>
                    <a:p>
                      <a:pPr algn="just">
                        <a:lnSpc>
                          <a:spcPts val="1032"/>
                        </a:lnSpc>
                        <a:defRPr/>
                      </a:pPr>
                      <a:r>
                        <a:rPr lang="en-US" sz="1200" spc="123">
                          <a:solidFill>
                            <a:srgbClr val="000000"/>
                          </a:solidFill>
                          <a:latin typeface="Canva Sans"/>
                          <a:ea typeface="Canva Sans"/>
                          <a:cs typeface="Canva Sans"/>
                          <a:sym typeface="Canva Sans"/>
                        </a:rPr>
                        <a:t>Target Availability</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tc>
                  <a:txBody>
                    <a:bodyPr/>
                    <a:lstStyle/>
                    <a:p>
                      <a:pPr algn="just">
                        <a:lnSpc>
                          <a:spcPts val="1032"/>
                        </a:lnSpc>
                        <a:defRPr/>
                      </a:pPr>
                      <a:r>
                        <a:rPr lang="en-US" sz="1200" spc="123">
                          <a:solidFill>
                            <a:srgbClr val="000000"/>
                          </a:solidFill>
                          <a:latin typeface="Canva Sans"/>
                          <a:ea typeface="Canva Sans"/>
                          <a:cs typeface="Canva Sans"/>
                          <a:sym typeface="Canva Sans"/>
                        </a:rPr>
                        <a:t>100%</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extLst>
                  <a:ext uri="{0D108BD9-81ED-4DB2-BD59-A6C34878D82A}">
                    <a16:rowId xmlns:a16="http://schemas.microsoft.com/office/drawing/2014/main" val="10003"/>
                  </a:ext>
                </a:extLst>
              </a:tr>
              <a:tr h="496514">
                <a:tc>
                  <a:txBody>
                    <a:bodyPr/>
                    <a:lstStyle/>
                    <a:p>
                      <a:pPr algn="just">
                        <a:lnSpc>
                          <a:spcPts val="1032"/>
                        </a:lnSpc>
                        <a:defRPr/>
                      </a:pPr>
                      <a:r>
                        <a:rPr lang="en-US" sz="1200" spc="123">
                          <a:solidFill>
                            <a:srgbClr val="000000"/>
                          </a:solidFill>
                          <a:latin typeface="Canva Sans"/>
                          <a:ea typeface="Canva Sans"/>
                          <a:cs typeface="Canva Sans"/>
                          <a:sym typeface="Canva Sans"/>
                        </a:rPr>
                        <a:t>Dual Lane Detection</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tc>
                  <a:txBody>
                    <a:bodyPr/>
                    <a:lstStyle/>
                    <a:p>
                      <a:pPr algn="just">
                        <a:lnSpc>
                          <a:spcPts val="1032"/>
                        </a:lnSpc>
                        <a:defRPr/>
                      </a:pPr>
                      <a:r>
                        <a:rPr lang="en-US" sz="1200" spc="123">
                          <a:solidFill>
                            <a:srgbClr val="000000"/>
                          </a:solidFill>
                          <a:latin typeface="Canva Sans"/>
                          <a:ea typeface="Canva Sans"/>
                          <a:cs typeface="Canva Sans"/>
                          <a:sym typeface="Canva Sans"/>
                        </a:rPr>
                        <a:t>70.02%</a:t>
                      </a:r>
                      <a:endParaRPr lang="en-US" sz="110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extLst>
                  <a:ext uri="{0D108BD9-81ED-4DB2-BD59-A6C34878D82A}">
                    <a16:rowId xmlns:a16="http://schemas.microsoft.com/office/drawing/2014/main" val="10004"/>
                  </a:ext>
                </a:extLst>
              </a:tr>
              <a:tr h="539337">
                <a:tc>
                  <a:txBody>
                    <a:bodyPr/>
                    <a:lstStyle/>
                    <a:p>
                      <a:pPr algn="just">
                        <a:lnSpc>
                          <a:spcPts val="1032"/>
                        </a:lnSpc>
                        <a:defRPr/>
                      </a:pPr>
                      <a:r>
                        <a:rPr lang="en-US" sz="1200" spc="123" dirty="0">
                          <a:solidFill>
                            <a:srgbClr val="000000"/>
                          </a:solidFill>
                          <a:latin typeface="Canva Sans"/>
                          <a:ea typeface="Canva Sans"/>
                          <a:cs typeface="Canva Sans"/>
                          <a:sym typeface="Canva Sans"/>
                        </a:rPr>
                        <a:t>Steering Smoothness</a:t>
                      </a:r>
                      <a:endParaRPr lang="en-US" sz="1100" dirty="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tc>
                  <a:txBody>
                    <a:bodyPr/>
                    <a:lstStyle/>
                    <a:p>
                      <a:pPr algn="just">
                        <a:lnSpc>
                          <a:spcPts val="1032"/>
                        </a:lnSpc>
                        <a:defRPr/>
                      </a:pPr>
                      <a:r>
                        <a:rPr lang="en-US" sz="1200" spc="123" dirty="0">
                          <a:solidFill>
                            <a:srgbClr val="000000"/>
                          </a:solidFill>
                          <a:latin typeface="Canva Sans"/>
                          <a:ea typeface="Canva Sans"/>
                          <a:cs typeface="Canva Sans"/>
                          <a:sym typeface="Canva Sans"/>
                        </a:rPr>
                        <a:t>1.037°/frame</a:t>
                      </a:r>
                      <a:endParaRPr lang="en-US" sz="1100" dirty="0"/>
                    </a:p>
                  </a:txBody>
                  <a:tcPr marL="76200" marR="76200" marT="76200" marB="76200" anchor="ctr">
                    <a:lnL w="9525" cap="flat" cmpd="sng" algn="ctr">
                      <a:solidFill>
                        <a:srgbClr val="1C68AA"/>
                      </a:solidFill>
                      <a:prstDash val="solid"/>
                      <a:round/>
                      <a:headEnd type="none" w="med" len="med"/>
                      <a:tailEnd type="none" w="med" len="med"/>
                    </a:lnL>
                    <a:lnR w="9525" cap="flat" cmpd="sng" algn="ctr">
                      <a:solidFill>
                        <a:srgbClr val="1C68AA"/>
                      </a:solidFill>
                      <a:prstDash val="solid"/>
                      <a:round/>
                      <a:headEnd type="none" w="med" len="med"/>
                      <a:tailEnd type="none" w="med" len="med"/>
                    </a:lnR>
                    <a:lnT w="9525" cap="flat" cmpd="sng" algn="ctr">
                      <a:solidFill>
                        <a:srgbClr val="1C68AA"/>
                      </a:solidFill>
                      <a:prstDash val="solid"/>
                      <a:round/>
                      <a:headEnd type="none" w="med" len="med"/>
                      <a:tailEnd type="none" w="med" len="med"/>
                    </a:lnT>
                    <a:lnB w="9525" cap="flat" cmpd="sng" algn="ctr">
                      <a:solidFill>
                        <a:srgbClr val="1C68A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9" name="TextBox 59"/>
          <p:cNvSpPr txBox="1"/>
          <p:nvPr/>
        </p:nvSpPr>
        <p:spPr>
          <a:xfrm>
            <a:off x="16771757" y="11826230"/>
            <a:ext cx="1920032" cy="203261"/>
          </a:xfrm>
          <a:prstGeom prst="rect">
            <a:avLst/>
          </a:prstGeom>
        </p:spPr>
        <p:txBody>
          <a:bodyPr wrap="square" lIns="0" tIns="0" rIns="0" bIns="0" rtlCol="0" anchor="t">
            <a:spAutoFit/>
          </a:bodyPr>
          <a:lstStyle/>
          <a:p>
            <a:pPr algn="ctr">
              <a:lnSpc>
                <a:spcPts val="1679"/>
              </a:lnSpc>
            </a:pPr>
            <a:r>
              <a:rPr lang="en-US" sz="1200" b="1" dirty="0">
                <a:solidFill>
                  <a:srgbClr val="000000"/>
                </a:solidFill>
                <a:latin typeface="Canva Sans Bold"/>
                <a:ea typeface="Canva Sans Bold"/>
                <a:cs typeface="Canva Sans Bold"/>
                <a:sym typeface="Canva Sans Bold"/>
              </a:rPr>
              <a:t>Scan for Live Demo</a:t>
            </a:r>
          </a:p>
        </p:txBody>
      </p:sp>
      <p:sp>
        <p:nvSpPr>
          <p:cNvPr id="60" name="TextBox 60"/>
          <p:cNvSpPr txBox="1"/>
          <p:nvPr/>
        </p:nvSpPr>
        <p:spPr>
          <a:xfrm>
            <a:off x="19020761" y="11824776"/>
            <a:ext cx="1614199" cy="203261"/>
          </a:xfrm>
          <a:prstGeom prst="rect">
            <a:avLst/>
          </a:prstGeom>
        </p:spPr>
        <p:txBody>
          <a:bodyPr wrap="square" lIns="0" tIns="0" rIns="0" bIns="0" rtlCol="0" anchor="t">
            <a:spAutoFit/>
          </a:bodyPr>
          <a:lstStyle/>
          <a:p>
            <a:pPr algn="ctr">
              <a:lnSpc>
                <a:spcPts val="1679"/>
              </a:lnSpc>
            </a:pPr>
            <a:r>
              <a:rPr lang="en-US" sz="1200" b="1" dirty="0">
                <a:solidFill>
                  <a:srgbClr val="000000"/>
                </a:solidFill>
                <a:latin typeface="Canva Sans Bold"/>
                <a:ea typeface="Canva Sans Bold"/>
                <a:cs typeface="Canva Sans Bold"/>
                <a:sym typeface="Canva Sans Bold"/>
              </a:rPr>
              <a:t>Scan for full report.</a:t>
            </a:r>
          </a:p>
        </p:txBody>
      </p:sp>
      <p:grpSp>
        <p:nvGrpSpPr>
          <p:cNvPr id="61" name="Group 61"/>
          <p:cNvGrpSpPr/>
          <p:nvPr/>
        </p:nvGrpSpPr>
        <p:grpSpPr>
          <a:xfrm>
            <a:off x="13940815" y="8479085"/>
            <a:ext cx="6621093" cy="1890408"/>
            <a:chOff x="0" y="0"/>
            <a:chExt cx="8828124" cy="2520544"/>
          </a:xfrm>
        </p:grpSpPr>
        <p:sp>
          <p:nvSpPr>
            <p:cNvPr id="62" name="Freeform 62"/>
            <p:cNvSpPr/>
            <p:nvPr/>
          </p:nvSpPr>
          <p:spPr>
            <a:xfrm>
              <a:off x="0" y="59877"/>
              <a:ext cx="3810090" cy="1882000"/>
            </a:xfrm>
            <a:custGeom>
              <a:avLst/>
              <a:gdLst/>
              <a:ahLst/>
              <a:cxnLst/>
              <a:rect l="l" t="t" r="r" b="b"/>
              <a:pathLst>
                <a:path w="3810090" h="1882000">
                  <a:moveTo>
                    <a:pt x="0" y="0"/>
                  </a:moveTo>
                  <a:lnTo>
                    <a:pt x="3810090" y="0"/>
                  </a:lnTo>
                  <a:lnTo>
                    <a:pt x="3810090" y="1882000"/>
                  </a:lnTo>
                  <a:lnTo>
                    <a:pt x="0" y="1882000"/>
                  </a:lnTo>
                  <a:lnTo>
                    <a:pt x="0" y="0"/>
                  </a:lnTo>
                  <a:close/>
                </a:path>
              </a:pathLst>
            </a:custGeom>
            <a:blipFill>
              <a:blip r:embed="rId18"/>
              <a:stretch>
                <a:fillRect/>
              </a:stretch>
            </a:blipFill>
          </p:spPr>
          <p:txBody>
            <a:bodyPr/>
            <a:lstStyle/>
            <a:p>
              <a:endParaRPr lang="en-US"/>
            </a:p>
          </p:txBody>
        </p:sp>
        <p:sp>
          <p:nvSpPr>
            <p:cNvPr id="63" name="Freeform 63"/>
            <p:cNvSpPr/>
            <p:nvPr/>
          </p:nvSpPr>
          <p:spPr>
            <a:xfrm>
              <a:off x="4718400" y="0"/>
              <a:ext cx="4109724" cy="2001754"/>
            </a:xfrm>
            <a:custGeom>
              <a:avLst/>
              <a:gdLst/>
              <a:ahLst/>
              <a:cxnLst/>
              <a:rect l="l" t="t" r="r" b="b"/>
              <a:pathLst>
                <a:path w="4109724" h="2001754">
                  <a:moveTo>
                    <a:pt x="0" y="0"/>
                  </a:moveTo>
                  <a:lnTo>
                    <a:pt x="4109724" y="0"/>
                  </a:lnTo>
                  <a:lnTo>
                    <a:pt x="4109724" y="2001754"/>
                  </a:lnTo>
                  <a:lnTo>
                    <a:pt x="0" y="2001754"/>
                  </a:lnTo>
                  <a:lnTo>
                    <a:pt x="0" y="0"/>
                  </a:lnTo>
                  <a:close/>
                </a:path>
              </a:pathLst>
            </a:custGeom>
            <a:blipFill>
              <a:blip r:embed="rId19"/>
              <a:stretch>
                <a:fillRect/>
              </a:stretch>
            </a:blipFill>
          </p:spPr>
          <p:txBody>
            <a:bodyPr/>
            <a:lstStyle/>
            <a:p>
              <a:endParaRPr lang="en-US"/>
            </a:p>
          </p:txBody>
        </p:sp>
        <p:sp>
          <p:nvSpPr>
            <p:cNvPr id="64" name="TextBox 64"/>
            <p:cNvSpPr txBox="1"/>
            <p:nvPr/>
          </p:nvSpPr>
          <p:spPr>
            <a:xfrm>
              <a:off x="1176859" y="2209393"/>
              <a:ext cx="1456373" cy="213783"/>
            </a:xfrm>
            <a:prstGeom prst="rect">
              <a:avLst/>
            </a:prstGeom>
          </p:spPr>
          <p:txBody>
            <a:bodyPr lIns="0" tIns="0" rIns="0" bIns="0" rtlCol="0" anchor="t">
              <a:spAutoFit/>
            </a:bodyPr>
            <a:lstStyle/>
            <a:p>
              <a:pPr algn="ctr">
                <a:lnSpc>
                  <a:spcPts val="1399"/>
                </a:lnSpc>
              </a:pPr>
              <a:r>
                <a:rPr lang="en-US" sz="999" b="1">
                  <a:solidFill>
                    <a:srgbClr val="000000"/>
                  </a:solidFill>
                  <a:latin typeface="Canva Sans Bold"/>
                  <a:ea typeface="Canva Sans Bold"/>
                  <a:cs typeface="Canva Sans Bold"/>
                  <a:sym typeface="Canva Sans Bold"/>
                </a:rPr>
                <a:t>Dual Lane Output</a:t>
              </a:r>
            </a:p>
          </p:txBody>
        </p:sp>
        <p:sp>
          <p:nvSpPr>
            <p:cNvPr id="65" name="TextBox 65"/>
            <p:cNvSpPr txBox="1"/>
            <p:nvPr/>
          </p:nvSpPr>
          <p:spPr>
            <a:xfrm>
              <a:off x="5983692" y="2306760"/>
              <a:ext cx="1579139" cy="213783"/>
            </a:xfrm>
            <a:prstGeom prst="rect">
              <a:avLst/>
            </a:prstGeom>
          </p:spPr>
          <p:txBody>
            <a:bodyPr lIns="0" tIns="0" rIns="0" bIns="0" rtlCol="0" anchor="t">
              <a:spAutoFit/>
            </a:bodyPr>
            <a:lstStyle/>
            <a:p>
              <a:pPr algn="ctr">
                <a:lnSpc>
                  <a:spcPts val="1399"/>
                </a:lnSpc>
              </a:pPr>
              <a:r>
                <a:rPr lang="en-US" sz="999" b="1">
                  <a:solidFill>
                    <a:srgbClr val="000000"/>
                  </a:solidFill>
                  <a:latin typeface="Canva Sans Bold"/>
                  <a:ea typeface="Canva Sans Bold"/>
                  <a:cs typeface="Canva Sans Bold"/>
                  <a:sym typeface="Canva Sans Bold"/>
                </a:rPr>
                <a:t>Single Lane Output</a:t>
              </a:r>
            </a:p>
          </p:txBody>
        </p:sp>
      </p:grpSp>
      <p:sp>
        <p:nvSpPr>
          <p:cNvPr id="66" name="AutoShape 66"/>
          <p:cNvSpPr/>
          <p:nvPr/>
        </p:nvSpPr>
        <p:spPr>
          <a:xfrm>
            <a:off x="13940815" y="12183917"/>
            <a:ext cx="6749639" cy="0"/>
          </a:xfrm>
          <a:prstGeom prst="line">
            <a:avLst/>
          </a:prstGeom>
          <a:ln w="9525" cap="flat">
            <a:solidFill>
              <a:srgbClr val="4C45FD"/>
            </a:solidFill>
            <a:prstDash val="solid"/>
            <a:headEnd type="none" w="sm" len="sm"/>
            <a:tailEnd type="none" w="sm" len="sm"/>
          </a:ln>
        </p:spPr>
        <p:txBody>
          <a:bodyPr/>
          <a:lstStyle/>
          <a:p>
            <a:endParaRPr lang="en-US"/>
          </a:p>
        </p:txBody>
      </p:sp>
      <p:grpSp>
        <p:nvGrpSpPr>
          <p:cNvPr id="67" name="Group 67"/>
          <p:cNvGrpSpPr/>
          <p:nvPr/>
        </p:nvGrpSpPr>
        <p:grpSpPr>
          <a:xfrm>
            <a:off x="0" y="14313395"/>
            <a:ext cx="21374099" cy="806605"/>
            <a:chOff x="0" y="0"/>
            <a:chExt cx="5372070" cy="192713"/>
          </a:xfrm>
        </p:grpSpPr>
        <p:sp>
          <p:nvSpPr>
            <p:cNvPr id="68" name="Freeform 68">
              <a:extLst>
                <a:ext uri="{C183D7F6-B498-43B3-948B-1728B52AA6E4}">
                  <adec:decorative xmlns:adec="http://schemas.microsoft.com/office/drawing/2017/decorative" val="1"/>
                </a:ext>
              </a:extLst>
            </p:cNvPr>
            <p:cNvSpPr/>
            <p:nvPr/>
          </p:nvSpPr>
          <p:spPr>
            <a:xfrm>
              <a:off x="0" y="0"/>
              <a:ext cx="5372070" cy="192713"/>
            </a:xfrm>
            <a:custGeom>
              <a:avLst/>
              <a:gdLst/>
              <a:ahLst/>
              <a:cxnLst/>
              <a:rect l="l" t="t" r="r" b="b"/>
              <a:pathLst>
                <a:path w="5372070" h="192713">
                  <a:moveTo>
                    <a:pt x="9641" y="0"/>
                  </a:moveTo>
                  <a:lnTo>
                    <a:pt x="5362429" y="0"/>
                  </a:lnTo>
                  <a:cubicBezTo>
                    <a:pt x="5364986" y="0"/>
                    <a:pt x="5367438" y="1016"/>
                    <a:pt x="5369246" y="2824"/>
                  </a:cubicBezTo>
                  <a:cubicBezTo>
                    <a:pt x="5371054" y="4632"/>
                    <a:pt x="5372070" y="7084"/>
                    <a:pt x="5372070" y="9641"/>
                  </a:cubicBezTo>
                  <a:lnTo>
                    <a:pt x="5372070" y="183072"/>
                  </a:lnTo>
                  <a:cubicBezTo>
                    <a:pt x="5372070" y="185629"/>
                    <a:pt x="5371054" y="188081"/>
                    <a:pt x="5369246" y="189889"/>
                  </a:cubicBezTo>
                  <a:cubicBezTo>
                    <a:pt x="5367438" y="191697"/>
                    <a:pt x="5364986" y="192713"/>
                    <a:pt x="5362429" y="192713"/>
                  </a:cubicBezTo>
                  <a:lnTo>
                    <a:pt x="9641" y="192713"/>
                  </a:lnTo>
                  <a:cubicBezTo>
                    <a:pt x="7084" y="192713"/>
                    <a:pt x="4632" y="191697"/>
                    <a:pt x="2824" y="189889"/>
                  </a:cubicBezTo>
                  <a:cubicBezTo>
                    <a:pt x="1016" y="188081"/>
                    <a:pt x="0" y="185629"/>
                    <a:pt x="0" y="183072"/>
                  </a:cubicBezTo>
                  <a:lnTo>
                    <a:pt x="0" y="9641"/>
                  </a:lnTo>
                  <a:cubicBezTo>
                    <a:pt x="0" y="7084"/>
                    <a:pt x="1016" y="4632"/>
                    <a:pt x="2824" y="2824"/>
                  </a:cubicBezTo>
                  <a:cubicBezTo>
                    <a:pt x="4632" y="1016"/>
                    <a:pt x="7084" y="0"/>
                    <a:pt x="9641" y="0"/>
                  </a:cubicBezTo>
                  <a:close/>
                </a:path>
              </a:pathLst>
            </a:custGeom>
            <a:gradFill rotWithShape="1">
              <a:gsLst>
                <a:gs pos="0">
                  <a:srgbClr val="B1DDFF">
                    <a:alpha val="100000"/>
                  </a:srgbClr>
                </a:gs>
                <a:gs pos="100000">
                  <a:srgbClr val="26A9FF">
                    <a:alpha val="100000"/>
                  </a:srgbClr>
                </a:gs>
              </a:gsLst>
              <a:lin ang="5400000"/>
            </a:gradFill>
            <a:ln cap="rnd">
              <a:noFill/>
              <a:prstDash val="solid"/>
              <a:round/>
            </a:ln>
          </p:spPr>
          <p:txBody>
            <a:bodyPr/>
            <a:lstStyle/>
            <a:p>
              <a:endParaRPr lang="en-US"/>
            </a:p>
          </p:txBody>
        </p:sp>
        <p:sp>
          <p:nvSpPr>
            <p:cNvPr id="69" name="TextBox 69"/>
            <p:cNvSpPr txBox="1"/>
            <p:nvPr/>
          </p:nvSpPr>
          <p:spPr>
            <a:xfrm>
              <a:off x="0" y="-47625"/>
              <a:ext cx="5372070" cy="240338"/>
            </a:xfrm>
            <a:prstGeom prst="rect">
              <a:avLst/>
            </a:prstGeom>
          </p:spPr>
          <p:txBody>
            <a:bodyPr lIns="35000" tIns="35000" rIns="35000" bIns="35000" rtlCol="0" anchor="ctr"/>
            <a:lstStyle/>
            <a:p>
              <a:pPr marL="0" lvl="0" indent="0" algn="ctr">
                <a:lnSpc>
                  <a:spcPts val="3086"/>
                </a:lnSpc>
                <a:spcBef>
                  <a:spcPct val="0"/>
                </a:spcBef>
              </a:pPr>
              <a:endParaRPr/>
            </a:p>
          </p:txBody>
        </p:sp>
      </p:grpSp>
      <p:sp>
        <p:nvSpPr>
          <p:cNvPr id="70" name="TextBox 70"/>
          <p:cNvSpPr txBox="1"/>
          <p:nvPr/>
        </p:nvSpPr>
        <p:spPr>
          <a:xfrm>
            <a:off x="197747" y="11769574"/>
            <a:ext cx="5124979" cy="265201"/>
          </a:xfrm>
          <a:prstGeom prst="rect">
            <a:avLst/>
          </a:prstGeom>
        </p:spPr>
        <p:txBody>
          <a:bodyPr wrap="square" lIns="0" tIns="0" rIns="0" bIns="0" rtlCol="0" anchor="t">
            <a:spAutoFit/>
          </a:bodyPr>
          <a:lstStyle/>
          <a:p>
            <a:pPr algn="ctr">
              <a:lnSpc>
                <a:spcPts val="1959"/>
              </a:lnSpc>
            </a:pPr>
            <a:r>
              <a:rPr lang="en-US" sz="2200" b="1" dirty="0">
                <a:solidFill>
                  <a:srgbClr val="000000"/>
                </a:solidFill>
                <a:latin typeface="Canva Sans Bold"/>
                <a:ea typeface="Canva Sans Bold"/>
                <a:cs typeface="Canva Sans Bold"/>
                <a:sym typeface="Canva Sans Bold"/>
              </a:rPr>
              <a:t>Image Processing Pipeline Outputs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363</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Glacial Indifference</vt:lpstr>
      <vt:lpstr>Calibri</vt:lpstr>
      <vt:lpstr>Canva Sans Bold</vt:lpstr>
      <vt:lpstr>Roboto</vt:lpstr>
      <vt:lpstr>Canva Sans</vt:lpstr>
      <vt:lpstr>Arial</vt:lpstr>
      <vt:lpstr>Glacial Indifference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LANE KEEPING AND CHANGING VEHICLE</dc:title>
  <cp:lastModifiedBy>Abdullah Magdy</cp:lastModifiedBy>
  <cp:revision>5</cp:revision>
  <dcterms:created xsi:type="dcterms:W3CDTF">2006-08-16T00:00:00Z</dcterms:created>
  <dcterms:modified xsi:type="dcterms:W3CDTF">2026-05-05T15:02:49Z</dcterms:modified>
  <dc:identifier>DAHIu4KUhpc</dc:identifier>
</cp:coreProperties>
</file>