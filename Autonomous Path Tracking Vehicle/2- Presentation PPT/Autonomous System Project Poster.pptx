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3"/>
  </p:notesMasterIdLst>
  <p:sldIdLst>
    <p:sldId id="256" r:id="rId2"/>
  </p:sldIdLst>
  <p:sldSz cx="12192000" cy="6858000"/>
  <p:notesSz cx="6858000" cy="9144000"/>
  <p:embeddedFontLst>
    <p:embeddedFont>
      <p:font typeface="Montserrat" panose="00000500000000000000" pitchFamily="2" charset="0"/>
      <p:regular r:id="rId4"/>
      <p:bold r:id="rId5"/>
      <p:italic r:id="rId6"/>
      <p:boldItalic r:id="rId7"/>
    </p:embeddedFont>
    <p:embeddedFont>
      <p:font typeface="Montserrat ExtraBold" panose="00000900000000000000" pitchFamily="2" charset="0"/>
      <p:bold r:id="rId8"/>
      <p:boldItalic r:id="rId9"/>
    </p:embeddedFont>
    <p:embeddedFont>
      <p:font typeface="Roboto" panose="02000000000000000000" pitchFamily="2" charset="0"/>
      <p:regular r:id="rId10"/>
      <p:bold r:id="rId11"/>
      <p:italic r:id="rId12"/>
      <p:boldItalic r:id="rId1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CF4CB23-D589-4086-921D-239482C4EC99}">
  <a:tblStyle styleId="{3CF4CB23-D589-4086-921D-239482C4EC99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4" d="100"/>
          <a:sy n="154" d="100"/>
        </p:scale>
        <p:origin x="636" y="53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13" Type="http://schemas.openxmlformats.org/officeDocument/2006/relationships/font" Target="fonts/font10.fntdata"/><Relationship Id="rId3" Type="http://schemas.openxmlformats.org/officeDocument/2006/relationships/notesMaster" Target="notesMasters/notesMaster1.xml"/><Relationship Id="rId7" Type="http://schemas.openxmlformats.org/officeDocument/2006/relationships/font" Target="fonts/font4.fntdata"/><Relationship Id="rId12" Type="http://schemas.openxmlformats.org/officeDocument/2006/relationships/font" Target="fonts/font9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font" Target="fonts/font8.fntdata"/><Relationship Id="rId5" Type="http://schemas.openxmlformats.org/officeDocument/2006/relationships/font" Target="fonts/font2.fntdata"/><Relationship Id="rId15" Type="http://schemas.openxmlformats.org/officeDocument/2006/relationships/viewProps" Target="viewProps.xml"/><Relationship Id="rId10" Type="http://schemas.openxmlformats.org/officeDocument/2006/relationships/font" Target="fonts/font7.fntdata"/><Relationship Id="rId4" Type="http://schemas.openxmlformats.org/officeDocument/2006/relationships/font" Target="fonts/font1.fntdata"/><Relationship Id="rId9" Type="http://schemas.openxmlformats.org/officeDocument/2006/relationships/font" Target="fonts/font6.fntdata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378225" y="2026742"/>
            <a:ext cx="3435399" cy="305692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78225" y="2511333"/>
            <a:ext cx="3435399" cy="305692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78225" y="3522220"/>
            <a:ext cx="3435399" cy="357038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78225" y="4056013"/>
            <a:ext cx="3435399" cy="305692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251775" y="4617630"/>
            <a:ext cx="1343025" cy="191392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623375" y="4617630"/>
            <a:ext cx="1419225" cy="191392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3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251775" y="4837598"/>
            <a:ext cx="1304925" cy="191392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3"/>
          <p:cNvSpPr/>
          <p:nvPr/>
        </p:nvSpPr>
        <p:spPr>
          <a:xfrm>
            <a:off x="9334500" y="-952500"/>
            <a:ext cx="3810000" cy="3810000"/>
          </a:xfrm>
          <a:prstGeom prst="roundRect">
            <a:avLst>
              <a:gd name="adj" fmla="val 50000"/>
            </a:avLst>
          </a:prstGeom>
          <a:solidFill>
            <a:srgbClr val="00336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3"/>
          <p:cNvSpPr/>
          <p:nvPr/>
        </p:nvSpPr>
        <p:spPr>
          <a:xfrm>
            <a:off x="-546363" y="5450151"/>
            <a:ext cx="2381250" cy="2381250"/>
          </a:xfrm>
          <a:prstGeom prst="roundRect">
            <a:avLst>
              <a:gd name="adj" fmla="val 50000"/>
            </a:avLst>
          </a:prstGeom>
          <a:solidFill>
            <a:srgbClr val="00336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21207" y="190500"/>
            <a:ext cx="10050787" cy="6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>
                <a:solidFill>
                  <a:srgbClr val="003366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AUTONOMOUS VEHICLE NAVIGATION VIA DISTRIBUTED 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>
                <a:solidFill>
                  <a:srgbClr val="003366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ROS 2 ARCHITECTURE</a:t>
            </a:r>
            <a:endParaRPr dirty="0"/>
          </a:p>
        </p:txBody>
      </p:sp>
      <p:sp>
        <p:nvSpPr>
          <p:cNvPr id="99" name="Google Shape;99;p13"/>
          <p:cNvSpPr txBox="1"/>
          <p:nvPr/>
        </p:nvSpPr>
        <p:spPr>
          <a:xfrm>
            <a:off x="1095821" y="857250"/>
            <a:ext cx="9572178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555555"/>
                </a:solidFill>
                <a:latin typeface="Roboto"/>
                <a:ea typeface="Roboto"/>
                <a:cs typeface="Roboto"/>
                <a:sym typeface="Roboto"/>
              </a:rPr>
              <a:t>Autonomous System (MCTR1002) | Project Poster | Team #18</a:t>
            </a:r>
            <a:endParaRPr dirty="0"/>
          </a:p>
        </p:txBody>
      </p:sp>
      <p:sp>
        <p:nvSpPr>
          <p:cNvPr id="100" name="Google Shape;100;p13"/>
          <p:cNvSpPr txBox="1"/>
          <p:nvPr/>
        </p:nvSpPr>
        <p:spPr>
          <a:xfrm>
            <a:off x="1095821" y="1085850"/>
            <a:ext cx="9572178" cy="1500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 u="none" strike="noStrike" cap="non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Youssef Mohamed, Bassam Walid, Styven Hany, Somaya Magdy, Yassin Hesham, Mostafa Shakweer</a:t>
            </a:r>
            <a:endParaRPr/>
          </a:p>
        </p:txBody>
      </p:sp>
      <p:sp>
        <p:nvSpPr>
          <p:cNvPr id="102" name="Google Shape;102;p13"/>
          <p:cNvSpPr/>
          <p:nvPr/>
        </p:nvSpPr>
        <p:spPr>
          <a:xfrm>
            <a:off x="390525" y="1253327"/>
            <a:ext cx="3663850" cy="276225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3"/>
          <p:cNvSpPr txBox="1"/>
          <p:nvPr/>
        </p:nvSpPr>
        <p:spPr>
          <a:xfrm>
            <a:off x="504825" y="1300952"/>
            <a:ext cx="3435250" cy="173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ABSTRACT</a:t>
            </a:r>
            <a:endParaRPr/>
          </a:p>
        </p:txBody>
      </p:sp>
      <p:sp>
        <p:nvSpPr>
          <p:cNvPr id="104" name="Google Shape;104;p13"/>
          <p:cNvSpPr/>
          <p:nvPr/>
        </p:nvSpPr>
        <p:spPr>
          <a:xfrm>
            <a:off x="390525" y="2862462"/>
            <a:ext cx="3663850" cy="276225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3"/>
          <p:cNvSpPr txBox="1"/>
          <p:nvPr/>
        </p:nvSpPr>
        <p:spPr>
          <a:xfrm>
            <a:off x="504825" y="2910087"/>
            <a:ext cx="3435250" cy="173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METHODOLOGY: SYSTEM ARCHITECTURE</a:t>
            </a:r>
            <a:endParaRPr/>
          </a:p>
        </p:txBody>
      </p:sp>
      <p:sp>
        <p:nvSpPr>
          <p:cNvPr id="106" name="Google Shape;106;p13"/>
          <p:cNvSpPr/>
          <p:nvPr/>
        </p:nvSpPr>
        <p:spPr>
          <a:xfrm>
            <a:off x="390525" y="5296832"/>
            <a:ext cx="3663850" cy="276225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3"/>
          <p:cNvSpPr txBox="1"/>
          <p:nvPr/>
        </p:nvSpPr>
        <p:spPr>
          <a:xfrm>
            <a:off x="504825" y="5344457"/>
            <a:ext cx="3435250" cy="173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HARDWARE INTEGRATION</a:t>
            </a:r>
            <a:endParaRPr dirty="0"/>
          </a:p>
        </p:txBody>
      </p:sp>
      <p:sp>
        <p:nvSpPr>
          <p:cNvPr id="108" name="Google Shape;108;p13"/>
          <p:cNvSpPr/>
          <p:nvPr/>
        </p:nvSpPr>
        <p:spPr>
          <a:xfrm>
            <a:off x="4263925" y="1247775"/>
            <a:ext cx="3663999" cy="276225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3"/>
          <p:cNvSpPr txBox="1"/>
          <p:nvPr/>
        </p:nvSpPr>
        <p:spPr>
          <a:xfrm>
            <a:off x="4378225" y="1295400"/>
            <a:ext cx="3435399" cy="173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STATE ESTIMATION &amp; FILTERING</a:t>
            </a:r>
            <a:endParaRPr dirty="0"/>
          </a:p>
        </p:txBody>
      </p:sp>
      <p:sp>
        <p:nvSpPr>
          <p:cNvPr id="110" name="Google Shape;110;p13"/>
          <p:cNvSpPr/>
          <p:nvPr/>
        </p:nvSpPr>
        <p:spPr>
          <a:xfrm>
            <a:off x="4263925" y="2846785"/>
            <a:ext cx="3663999" cy="276225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3"/>
          <p:cNvSpPr txBox="1"/>
          <p:nvPr/>
        </p:nvSpPr>
        <p:spPr>
          <a:xfrm>
            <a:off x="4378225" y="2894410"/>
            <a:ext cx="3435399" cy="173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LATERAL CONTROL: PURE PURSUIT</a:t>
            </a:r>
            <a:endParaRPr dirty="0"/>
          </a:p>
        </p:txBody>
      </p:sp>
      <p:sp>
        <p:nvSpPr>
          <p:cNvPr id="112" name="Google Shape;112;p13"/>
          <p:cNvSpPr/>
          <p:nvPr/>
        </p:nvSpPr>
        <p:spPr>
          <a:xfrm>
            <a:off x="4263925" y="4762035"/>
            <a:ext cx="3663999" cy="276225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3"/>
          <p:cNvSpPr txBox="1"/>
          <p:nvPr/>
        </p:nvSpPr>
        <p:spPr>
          <a:xfrm>
            <a:off x="4378225" y="4809660"/>
            <a:ext cx="3435399" cy="173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EXPERIMENTAL ENVIRONMENTS</a:t>
            </a:r>
            <a:endParaRPr dirty="0"/>
          </a:p>
        </p:txBody>
      </p:sp>
      <p:sp>
        <p:nvSpPr>
          <p:cNvPr id="114" name="Google Shape;114;p13"/>
          <p:cNvSpPr/>
          <p:nvPr/>
        </p:nvSpPr>
        <p:spPr>
          <a:xfrm>
            <a:off x="8137475" y="1243389"/>
            <a:ext cx="3663850" cy="276225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3"/>
          <p:cNvSpPr txBox="1"/>
          <p:nvPr/>
        </p:nvSpPr>
        <p:spPr>
          <a:xfrm>
            <a:off x="8251775" y="1291014"/>
            <a:ext cx="3435250" cy="173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RESULTS &amp; ANALYSIS</a:t>
            </a:r>
            <a:endParaRPr dirty="0"/>
          </a:p>
        </p:txBody>
      </p:sp>
      <p:sp>
        <p:nvSpPr>
          <p:cNvPr id="116" name="Google Shape;116;p13"/>
          <p:cNvSpPr/>
          <p:nvPr/>
        </p:nvSpPr>
        <p:spPr>
          <a:xfrm>
            <a:off x="8137475" y="4326154"/>
            <a:ext cx="3663850" cy="276225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3"/>
          <p:cNvSpPr txBox="1"/>
          <p:nvPr/>
        </p:nvSpPr>
        <p:spPr>
          <a:xfrm>
            <a:off x="8251775" y="4373779"/>
            <a:ext cx="3435250" cy="173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SYSTEM PERFORMANCE</a:t>
            </a:r>
            <a:endParaRPr dirty="0"/>
          </a:p>
        </p:txBody>
      </p:sp>
      <p:sp>
        <p:nvSpPr>
          <p:cNvPr id="118" name="Google Shape;118;p13"/>
          <p:cNvSpPr/>
          <p:nvPr/>
        </p:nvSpPr>
        <p:spPr>
          <a:xfrm>
            <a:off x="8137475" y="5428873"/>
            <a:ext cx="3663850" cy="276225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3"/>
          <p:cNvSpPr txBox="1"/>
          <p:nvPr/>
        </p:nvSpPr>
        <p:spPr>
          <a:xfrm>
            <a:off x="8251775" y="5476498"/>
            <a:ext cx="3435250" cy="173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CONCLUSION</a:t>
            </a:r>
            <a:endParaRPr dirty="0"/>
          </a:p>
        </p:txBody>
      </p:sp>
      <p:sp>
        <p:nvSpPr>
          <p:cNvPr id="120" name="Google Shape;120;p13"/>
          <p:cNvSpPr txBox="1"/>
          <p:nvPr/>
        </p:nvSpPr>
        <p:spPr>
          <a:xfrm>
            <a:off x="504825" y="1545861"/>
            <a:ext cx="3435250" cy="13002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62" b="0" i="1" u="none" strike="noStrike" cap="none" dirty="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This poster presents a distributed autonomous vehicle architecture using a </a:t>
            </a:r>
            <a:r>
              <a:rPr lang="en-US" sz="862" b="1" i="1" u="none" strike="noStrike" cap="none" dirty="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Sense-Plan-Act</a:t>
            </a:r>
            <a:r>
              <a:rPr lang="en-US" sz="862" b="0" i="1" u="none" strike="noStrike" cap="none" dirty="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 framework. Processing tasks are divided between a </a:t>
            </a:r>
            <a:r>
              <a:rPr lang="en-US" sz="862" b="1" i="1" u="none" strike="noStrike" cap="none" dirty="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Raspberry Pi 5</a:t>
            </a:r>
            <a:r>
              <a:rPr lang="en-US" sz="862" b="0" i="1" u="none" strike="noStrike" cap="none" dirty="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 (high-level ROS 2 trajectory &amp; Pure Pursuit) and an </a:t>
            </a:r>
            <a:r>
              <a:rPr lang="en-US" sz="862" b="1" i="1" u="none" strike="noStrike" cap="none" dirty="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Arduino Uno</a:t>
            </a:r>
            <a:r>
              <a:rPr lang="en-US" sz="862" b="0" i="1" u="none" strike="noStrike" cap="none" dirty="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 (low-level motor control &amp; sensor polling). Digital filtration on raw encoders and MPU6050 IMU data mitigates noise, enabling stable navigation across Straight, Racing, and Curved track environments.</a:t>
            </a:r>
            <a:endParaRPr dirty="0"/>
          </a:p>
        </p:txBody>
      </p:sp>
      <p:sp>
        <p:nvSpPr>
          <p:cNvPr id="121" name="Google Shape;121;p13"/>
          <p:cNvSpPr txBox="1"/>
          <p:nvPr/>
        </p:nvSpPr>
        <p:spPr>
          <a:xfrm>
            <a:off x="504825" y="4288468"/>
            <a:ext cx="3607013" cy="2100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 u="none" strike="noStrike" cap="none" dirty="0">
                <a:solidFill>
                  <a:srgbClr val="003366"/>
                </a:solidFill>
                <a:latin typeface="Roboto"/>
                <a:ea typeface="Roboto"/>
                <a:cs typeface="Roboto"/>
                <a:sym typeface="Roboto"/>
              </a:rPr>
              <a:t>Distributed Framework</a:t>
            </a:r>
            <a:endParaRPr dirty="0"/>
          </a:p>
        </p:txBody>
      </p:sp>
      <p:sp>
        <p:nvSpPr>
          <p:cNvPr id="122" name="Google Shape;122;p13"/>
          <p:cNvSpPr/>
          <p:nvPr/>
        </p:nvSpPr>
        <p:spPr>
          <a:xfrm>
            <a:off x="504825" y="4461704"/>
            <a:ext cx="3435250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3"/>
          <p:cNvSpPr txBox="1"/>
          <p:nvPr/>
        </p:nvSpPr>
        <p:spPr>
          <a:xfrm>
            <a:off x="769590" y="6565708"/>
            <a:ext cx="3435250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0" i="0" u="none" strike="noStrike" cap="none" dirty="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Figure 1: Vehicle Prototype</a:t>
            </a:r>
            <a:endParaRPr dirty="0"/>
          </a:p>
        </p:txBody>
      </p:sp>
      <p:sp>
        <p:nvSpPr>
          <p:cNvPr id="124" name="Google Shape;124;p13"/>
          <p:cNvSpPr txBox="1"/>
          <p:nvPr/>
        </p:nvSpPr>
        <p:spPr>
          <a:xfrm>
            <a:off x="4378225" y="1480629"/>
            <a:ext cx="3607169" cy="2100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 u="none" strike="noStrike" cap="none" dirty="0">
                <a:solidFill>
                  <a:srgbClr val="003366"/>
                </a:solidFill>
                <a:latin typeface="Roboto"/>
                <a:ea typeface="Roboto"/>
                <a:cs typeface="Roboto"/>
                <a:sym typeface="Roboto"/>
              </a:rPr>
              <a:t>Digital Signal Filtration</a:t>
            </a:r>
            <a:endParaRPr dirty="0"/>
          </a:p>
        </p:txBody>
      </p:sp>
      <p:sp>
        <p:nvSpPr>
          <p:cNvPr id="126" name="Google Shape;126;p13"/>
          <p:cNvSpPr txBox="1"/>
          <p:nvPr/>
        </p:nvSpPr>
        <p:spPr>
          <a:xfrm>
            <a:off x="4378225" y="1690687"/>
            <a:ext cx="3435399" cy="371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62" b="0" i="0" u="none" strike="noStrike" cap="none" dirty="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Implemented first-order low-pass filters to isolate high-frequency mechanical noise and wheel slippage.</a:t>
            </a:r>
            <a:endParaRPr dirty="0"/>
          </a:p>
        </p:txBody>
      </p:sp>
      <p:sp>
        <p:nvSpPr>
          <p:cNvPr id="127" name="Google Shape;127;p13"/>
          <p:cNvSpPr txBox="1"/>
          <p:nvPr/>
        </p:nvSpPr>
        <p:spPr>
          <a:xfrm>
            <a:off x="4378225" y="2334583"/>
            <a:ext cx="3607169" cy="2100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 u="none" strike="noStrike" cap="none" dirty="0">
                <a:solidFill>
                  <a:srgbClr val="003366"/>
                </a:solidFill>
                <a:latin typeface="Roboto"/>
                <a:ea typeface="Roboto"/>
                <a:cs typeface="Roboto"/>
                <a:sym typeface="Roboto"/>
              </a:rPr>
              <a:t>Euler-Based Dead Reckoning</a:t>
            </a:r>
            <a:endParaRPr dirty="0"/>
          </a:p>
        </p:txBody>
      </p:sp>
      <p:sp>
        <p:nvSpPr>
          <p:cNvPr id="129" name="Google Shape;129;p13"/>
          <p:cNvSpPr txBox="1"/>
          <p:nvPr/>
        </p:nvSpPr>
        <p:spPr>
          <a:xfrm>
            <a:off x="4378225" y="3138757"/>
            <a:ext cx="3435399" cy="371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62" b="0" i="0" u="none" strike="noStrike" cap="none" dirty="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The system calculates target curvature (    ) based on speed-scaled lookahead distance (      ):</a:t>
            </a:r>
            <a:endParaRPr dirty="0"/>
          </a:p>
        </p:txBody>
      </p:sp>
      <p:sp>
        <p:nvSpPr>
          <p:cNvPr id="130" name="Google Shape;130;p13"/>
          <p:cNvSpPr txBox="1"/>
          <p:nvPr/>
        </p:nvSpPr>
        <p:spPr>
          <a:xfrm>
            <a:off x="4378225" y="3886506"/>
            <a:ext cx="3435399" cy="1857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62" b="0" i="0" u="none" strike="noStrike" cap="none" dirty="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Resulting Steering Angle (   ):</a:t>
            </a:r>
            <a:endParaRPr dirty="0"/>
          </a:p>
        </p:txBody>
      </p:sp>
      <p:sp>
        <p:nvSpPr>
          <p:cNvPr id="131" name="Google Shape;131;p13"/>
          <p:cNvSpPr txBox="1"/>
          <p:nvPr/>
        </p:nvSpPr>
        <p:spPr>
          <a:xfrm>
            <a:off x="4378225" y="4374766"/>
            <a:ext cx="3435399" cy="371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62" b="0" i="0" u="none" strike="noStrike" cap="none" dirty="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Smoothing is applied to eliminate mechanical jitter at 20 Hz via exponential decay.</a:t>
            </a:r>
            <a:endParaRPr dirty="0"/>
          </a:p>
        </p:txBody>
      </p:sp>
      <p:sp>
        <p:nvSpPr>
          <p:cNvPr id="132" name="Google Shape;132;p13"/>
          <p:cNvSpPr txBox="1"/>
          <p:nvPr/>
        </p:nvSpPr>
        <p:spPr>
          <a:xfrm>
            <a:off x="8251775" y="3139072"/>
            <a:ext cx="3607013" cy="2100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 u="none" strike="noStrike" cap="none" dirty="0">
                <a:solidFill>
                  <a:srgbClr val="003366"/>
                </a:solidFill>
                <a:latin typeface="Roboto"/>
                <a:ea typeface="Roboto"/>
                <a:cs typeface="Roboto"/>
                <a:sym typeface="Roboto"/>
              </a:rPr>
              <a:t>Performance Metrics</a:t>
            </a:r>
            <a:endParaRPr dirty="0"/>
          </a:p>
        </p:txBody>
      </p:sp>
      <p:sp>
        <p:nvSpPr>
          <p:cNvPr id="133" name="Google Shape;133;p13"/>
          <p:cNvSpPr/>
          <p:nvPr/>
        </p:nvSpPr>
        <p:spPr>
          <a:xfrm>
            <a:off x="8251775" y="3312307"/>
            <a:ext cx="3435250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34" name="Google Shape;134;p13"/>
          <p:cNvGraphicFramePr/>
          <p:nvPr>
            <p:extLst>
              <p:ext uri="{D42A27DB-BD31-4B8C-83A1-F6EECF244321}">
                <p14:modId xmlns:p14="http://schemas.microsoft.com/office/powerpoint/2010/main" val="1330395141"/>
              </p:ext>
            </p:extLst>
          </p:nvPr>
        </p:nvGraphicFramePr>
        <p:xfrm>
          <a:off x="8251775" y="3369457"/>
          <a:ext cx="3425725" cy="912000"/>
        </p:xfrm>
        <a:graphic>
          <a:graphicData uri="http://schemas.openxmlformats.org/drawingml/2006/table">
            <a:tbl>
              <a:tblPr firstRow="1" bandRow="1">
                <a:noFill/>
                <a:tableStyleId>{3CF4CB23-D589-4086-921D-239482C4EC99}</a:tableStyleId>
              </a:tblPr>
              <a:tblGrid>
                <a:gridCol w="1177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9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8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28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87" b="1" i="0" u="none" strike="noStrike" cap="none">
                          <a:solidFill>
                            <a:srgbClr val="33333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Test Track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87" b="1" i="0" u="none" strike="noStrike" cap="none">
                          <a:solidFill>
                            <a:srgbClr val="33333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Peak Error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87" b="1" i="0" u="none" strike="noStrike" cap="none">
                          <a:solidFill>
                            <a:srgbClr val="33333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Velocity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87" b="0" i="0" u="none" strike="noStrike" cap="none">
                          <a:solidFill>
                            <a:srgbClr val="33333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Straight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87" b="0" i="0" u="none" strike="noStrike" cap="none">
                          <a:solidFill>
                            <a:srgbClr val="33333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&lt; 0.045m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87" b="0" i="0" u="none" strike="noStrike" cap="none">
                          <a:solidFill>
                            <a:srgbClr val="33333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0.146 m/s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87" b="0" i="0" u="none" strike="noStrike" cap="none">
                          <a:solidFill>
                            <a:srgbClr val="33333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Racing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87" b="0" i="0" u="none" strike="noStrike" cap="none">
                          <a:solidFill>
                            <a:srgbClr val="33333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&lt; 0.034m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87" b="0" i="0" u="none" strike="noStrike" cap="none">
                          <a:solidFill>
                            <a:srgbClr val="33333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0.185 m/s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87" b="0" i="0" u="none" strike="noStrike" cap="none">
                          <a:solidFill>
                            <a:srgbClr val="33333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City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87" b="0" i="0" u="none" strike="noStrike" cap="none">
                          <a:solidFill>
                            <a:srgbClr val="33333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&lt; 0.052m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87" b="0" i="0" u="none" strike="noStrike" cap="none">
                          <a:solidFill>
                            <a:srgbClr val="33333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0.185 m/s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35" name="Google Shape;135;p13"/>
          <p:cNvSpPr txBox="1"/>
          <p:nvPr/>
        </p:nvSpPr>
        <p:spPr>
          <a:xfrm>
            <a:off x="8251775" y="5053389"/>
            <a:ext cx="3435250" cy="371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62" b="0" i="0" u="none" strike="noStrike" cap="none" dirty="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The unified hardware-stack successfully minimized cross-track errors and prevented boundary collisions across all trials.</a:t>
            </a:r>
            <a:endParaRPr dirty="0"/>
          </a:p>
        </p:txBody>
      </p:sp>
      <p:sp>
        <p:nvSpPr>
          <p:cNvPr id="136" name="Google Shape;136;p13"/>
          <p:cNvSpPr txBox="1"/>
          <p:nvPr/>
        </p:nvSpPr>
        <p:spPr>
          <a:xfrm>
            <a:off x="8251775" y="5766996"/>
            <a:ext cx="3435250" cy="928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62" b="0" i="0" u="none" strike="noStrike" cap="none" dirty="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This project validates a dual-board architecture that eliminates processing bottlenecks. Future work will shift from geometric Pure Pursuit to </a:t>
            </a:r>
            <a:r>
              <a:rPr lang="en-US" sz="862" b="1" i="0" u="none" strike="noStrike" cap="none" dirty="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Model Predictive Control (MPC)</a:t>
            </a:r>
            <a:r>
              <a:rPr lang="en-US" sz="862" b="0" i="0" u="none" strike="noStrike" cap="none" dirty="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, unlocking high-speed navigation in volatile environments by forecasting tire slip and physical constraints.</a:t>
            </a:r>
            <a:endParaRPr dirty="0"/>
          </a:p>
        </p:txBody>
      </p:sp>
      <p:pic>
        <p:nvPicPr>
          <p:cNvPr id="138" name="Google Shape;138;p13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545752" y="3131155"/>
            <a:ext cx="3353395" cy="1219051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3"/>
          <p:cNvSpPr txBox="1"/>
          <p:nvPr/>
        </p:nvSpPr>
        <p:spPr>
          <a:xfrm>
            <a:off x="606162" y="4519180"/>
            <a:ext cx="38100" cy="132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62" b="0" i="0" u="none" strike="noStrike" cap="non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endParaRPr/>
          </a:p>
        </p:txBody>
      </p:sp>
      <p:sp>
        <p:nvSpPr>
          <p:cNvPr id="140" name="Google Shape;140;p13"/>
          <p:cNvSpPr txBox="1"/>
          <p:nvPr/>
        </p:nvSpPr>
        <p:spPr>
          <a:xfrm>
            <a:off x="644262" y="4518704"/>
            <a:ext cx="3054250" cy="371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400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62" b="1" i="0" u="none" strike="noStrike" cap="none" dirty="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Raspberry Pi 5:</a:t>
            </a:r>
            <a:r>
              <a:rPr lang="en-US" sz="862" b="0" i="0" u="none" strike="noStrike" cap="none" dirty="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 Path planning, ROS 2 nodes, Pure Pursuit lateral control.</a:t>
            </a:r>
            <a:endParaRPr dirty="0"/>
          </a:p>
        </p:txBody>
      </p:sp>
      <p:sp>
        <p:nvSpPr>
          <p:cNvPr id="141" name="Google Shape;141;p13"/>
          <p:cNvSpPr txBox="1"/>
          <p:nvPr/>
        </p:nvSpPr>
        <p:spPr>
          <a:xfrm>
            <a:off x="606162" y="4825766"/>
            <a:ext cx="38100" cy="132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62" b="0" i="0" u="none" strike="noStrike" cap="non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endParaRPr/>
          </a:p>
        </p:txBody>
      </p:sp>
      <p:sp>
        <p:nvSpPr>
          <p:cNvPr id="142" name="Google Shape;142;p13"/>
          <p:cNvSpPr txBox="1"/>
          <p:nvPr/>
        </p:nvSpPr>
        <p:spPr>
          <a:xfrm>
            <a:off x="644262" y="4825290"/>
            <a:ext cx="3054250" cy="371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400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62" b="1" i="0" u="none" strike="noStrike" cap="none" dirty="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Arduino Uno:</a:t>
            </a:r>
            <a:r>
              <a:rPr lang="en-US" sz="862" b="0" i="0" u="none" strike="noStrike" cap="none" dirty="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 Low-level PWM regulation, interrupt-driven sensor sampling.</a:t>
            </a:r>
            <a:endParaRPr dirty="0"/>
          </a:p>
        </p:txBody>
      </p:sp>
      <p:sp>
        <p:nvSpPr>
          <p:cNvPr id="143" name="Google Shape;143;p13"/>
          <p:cNvSpPr txBox="1"/>
          <p:nvPr/>
        </p:nvSpPr>
        <p:spPr>
          <a:xfrm>
            <a:off x="606162" y="5132352"/>
            <a:ext cx="38100" cy="132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62" b="0" i="0" u="none" strike="noStrike" cap="non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endParaRPr/>
          </a:p>
        </p:txBody>
      </p:sp>
      <p:sp>
        <p:nvSpPr>
          <p:cNvPr id="144" name="Google Shape;144;p13"/>
          <p:cNvSpPr txBox="1"/>
          <p:nvPr/>
        </p:nvSpPr>
        <p:spPr>
          <a:xfrm>
            <a:off x="644262" y="5131876"/>
            <a:ext cx="3054250" cy="1857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400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62" b="1" i="0" u="none" strike="noStrike" cap="non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Sensors:</a:t>
            </a:r>
            <a:r>
              <a:rPr lang="en-US" sz="862" b="0" i="0" u="none" strike="noStrike" cap="non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 MPU6050 IMU (I2C), JGA-25-370 Encoders.</a:t>
            </a:r>
            <a:endParaRPr/>
          </a:p>
        </p:txBody>
      </p:sp>
      <p:pic>
        <p:nvPicPr>
          <p:cNvPr id="146" name="Google Shape;146;p13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5445918" y="2141042"/>
            <a:ext cx="1328588" cy="10120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13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5537001" y="2616108"/>
            <a:ext cx="1146274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13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6371331" y="3200891"/>
            <a:ext cx="48517" cy="85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13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5412135" y="3373533"/>
            <a:ext cx="124866" cy="101203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13" descr="image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5962501" y="3598420"/>
            <a:ext cx="295423" cy="2046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13" descr="image.png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5654575" y="3949320"/>
            <a:ext cx="51643" cy="85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13" descr="image.png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5726757" y="4160788"/>
            <a:ext cx="766911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3"/>
          <p:cNvSpPr txBox="1"/>
          <p:nvPr/>
        </p:nvSpPr>
        <p:spPr>
          <a:xfrm>
            <a:off x="4340125" y="5111578"/>
            <a:ext cx="38100" cy="132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62" b="0" i="0" u="none" strike="noStrike" cap="non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endParaRPr/>
          </a:p>
        </p:txBody>
      </p:sp>
      <p:sp>
        <p:nvSpPr>
          <p:cNvPr id="154" name="Google Shape;154;p13"/>
          <p:cNvSpPr txBox="1"/>
          <p:nvPr/>
        </p:nvSpPr>
        <p:spPr>
          <a:xfrm>
            <a:off x="4378225" y="5111102"/>
            <a:ext cx="3054399" cy="1857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400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62" b="1" i="0" u="none" strike="noStrike" cap="none" dirty="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Straight Track:</a:t>
            </a:r>
            <a:r>
              <a:rPr lang="en-US" sz="862" b="0" i="0" u="none" strike="noStrike" cap="none" dirty="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 Longitudinal tracking at 0.8 speed to x=10m.</a:t>
            </a:r>
            <a:endParaRPr dirty="0"/>
          </a:p>
        </p:txBody>
      </p:sp>
      <p:sp>
        <p:nvSpPr>
          <p:cNvPr id="155" name="Google Shape;155;p13"/>
          <p:cNvSpPr txBox="1"/>
          <p:nvPr/>
        </p:nvSpPr>
        <p:spPr>
          <a:xfrm>
            <a:off x="4340125" y="5264871"/>
            <a:ext cx="38100" cy="132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62" b="0" i="0" u="none" strike="noStrike" cap="non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endParaRPr/>
          </a:p>
        </p:txBody>
      </p:sp>
      <p:sp>
        <p:nvSpPr>
          <p:cNvPr id="156" name="Google Shape;156;p13"/>
          <p:cNvSpPr txBox="1"/>
          <p:nvPr/>
        </p:nvSpPr>
        <p:spPr>
          <a:xfrm>
            <a:off x="4378225" y="5264395"/>
            <a:ext cx="3054399" cy="1857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400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62" b="1" i="0" u="none" strike="noStrike" cap="none" dirty="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Racing Track:</a:t>
            </a:r>
            <a:r>
              <a:rPr lang="en-US" sz="862" b="0" i="0" u="none" strike="noStrike" cap="none" dirty="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 Obstacle avoidance (waypoints at x=4m, 8m).</a:t>
            </a:r>
            <a:endParaRPr dirty="0"/>
          </a:p>
        </p:txBody>
      </p:sp>
      <p:sp>
        <p:nvSpPr>
          <p:cNvPr id="157" name="Google Shape;157;p13"/>
          <p:cNvSpPr txBox="1"/>
          <p:nvPr/>
        </p:nvSpPr>
        <p:spPr>
          <a:xfrm>
            <a:off x="4340125" y="5418164"/>
            <a:ext cx="38100" cy="132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62" b="0" i="0" u="none" strike="noStrike" cap="non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endParaRPr/>
          </a:p>
        </p:txBody>
      </p:sp>
      <p:sp>
        <p:nvSpPr>
          <p:cNvPr id="158" name="Google Shape;158;p13"/>
          <p:cNvSpPr txBox="1"/>
          <p:nvPr/>
        </p:nvSpPr>
        <p:spPr>
          <a:xfrm>
            <a:off x="4378225" y="5417688"/>
            <a:ext cx="3054399" cy="1857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400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62" b="1" i="0" u="none" strike="noStrike" cap="non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City Track:</a:t>
            </a:r>
            <a:r>
              <a:rPr lang="en-US" sz="862" b="0" i="0" u="none" strike="noStrike" cap="non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 Complex loop with shifting road radii.</a:t>
            </a:r>
            <a:endParaRPr/>
          </a:p>
        </p:txBody>
      </p:sp>
      <p:pic>
        <p:nvPicPr>
          <p:cNvPr id="159" name="Google Shape;159;p13" descr="image.png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8989292" y="1544013"/>
            <a:ext cx="1950690" cy="1665681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0010D40-6349-8B29-F331-52B5746D84DD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387690" y="5597218"/>
            <a:ext cx="705554" cy="988704"/>
          </a:xfrm>
          <a:prstGeom prst="rect">
            <a:avLst/>
          </a:prstGeom>
        </p:spPr>
      </p:pic>
      <p:pic>
        <p:nvPicPr>
          <p:cNvPr id="84" name="Google Shape;84;p13" descr="image.png"/>
          <p:cNvPicPr preferRelativeResize="0"/>
          <p:nvPr/>
        </p:nvPicPr>
        <p:blipFill rotWithShape="1">
          <a:blip r:embed="rId19">
            <a:alphaModFix/>
          </a:blip>
          <a:srcRect/>
          <a:stretch/>
        </p:blipFill>
        <p:spPr>
          <a:xfrm>
            <a:off x="0" y="6753225"/>
            <a:ext cx="12192000" cy="104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351</Words>
  <Application>Microsoft Office PowerPoint</Application>
  <PresentationFormat>Widescreen</PresentationFormat>
  <Paragraphs>49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Roboto</vt:lpstr>
      <vt:lpstr>Montserrat ExtraBold</vt:lpstr>
      <vt:lpstr>Montserrat</vt:lpstr>
      <vt:lpstr>Calibri</vt:lpstr>
      <vt:lpstr>Arial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Mostafa Shakweer</cp:lastModifiedBy>
  <cp:revision>5</cp:revision>
  <dcterms:modified xsi:type="dcterms:W3CDTF">2026-05-24T08:52:31Z</dcterms:modified>
</cp:coreProperties>
</file>