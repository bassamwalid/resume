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Urbanist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BF58BD4-5139-4EB5-AB07-4F0D360172F0}">
  <a:tblStyle styleId="{CBF58BD4-5139-4EB5-AB07-4F0D360172F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56" y="1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855589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Autonomous System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865239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Distributed ROS 2 Navigation Architecture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768179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Team Number: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#18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179540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Course: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MCTR1002 | Autonomous Systems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590901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Authors: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Y. Mohamed, B. Walid, S. Hany, S. Magdy, Y. Hesham, M. Shakweer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7810500" y="5734050"/>
            <a:ext cx="3810000" cy="838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8001000" y="5829300"/>
            <a:ext cx="34290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Welcome to our presentation on the Team 18 Autonomous System Project. We have developed a high-performance navigation stack using a distributed processing architecture.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7810500" y="5734050"/>
            <a:ext cx="38100" cy="838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809750" y="3227189"/>
            <a:ext cx="8572500" cy="12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project validates a highly effective, dual-board autonomous driving architecture. By distributing computational load between a Raspberry Pi 5 and Arduino Uno, we eliminated bottlenecks, ensuring crisp responses across complex track environments including straight tracks, obstacle-rich racing circuits, and high-curvature city routes.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3150631" y="571500"/>
            <a:ext cx="5890736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EXECUTIVE SUMMARY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7810500" y="5895975"/>
            <a:ext cx="3810000" cy="67627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001000" y="5991225"/>
            <a:ext cx="3429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Our core objective was to create a reliable vehicle capable of navigating varied environments by separating high-level planning from low-level actuation.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7810500" y="5895975"/>
            <a:ext cx="38100" cy="6762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2651224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The Sense-Plan-Act Framework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3060799"/>
            <a:ext cx="5334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implemented a modular architecture split into two main layers: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923925" y="3492162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52500" y="3491210"/>
            <a:ext cx="49530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High-Level: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Raspberry Pi 5 manages ROS 2 trajectory generation and Pure Pursuit calculations.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923925" y="3971984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52500" y="3971032"/>
            <a:ext cx="49530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Low-Level: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Arduino Uno handles PWM motor regulation and real-time sensor polling.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923925" y="4451806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4450853"/>
            <a:ext cx="49530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Communication: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High-speed 115200 baud serial connection over USB.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571500"/>
            <a:ext cx="9891236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DISTRIBUTED SYSTEM ARCHITECTURE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7810500" y="5895975"/>
            <a:ext cx="3810000" cy="67627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8001000" y="5991225"/>
            <a:ext cx="3429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By assigning heavy geometric logic to the Pi 5 and critical timing tasks to the Arduino, we achieved a stable loop rate of 20 Hertz for lateral control.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7810500" y="5895975"/>
            <a:ext cx="38100" cy="6762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45271"/>
            <a:ext cx="3555950" cy="2443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645271"/>
            <a:ext cx="3555950" cy="2443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45271"/>
            <a:ext cx="3555950" cy="2443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8900" y="294054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92639" y="3512046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Computing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66775" y="3902571"/>
            <a:ext cx="29654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Raspberry Pi 5 (8GB) paired with Arduino Uno for dual-core task isolation.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351" y="294054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4539090" y="3512046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Sensing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613225" y="3902571"/>
            <a:ext cx="29654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MPU6050 IMU for orientation and 11 PPR encoders for longitudinal tracking.</a:t>
            </a:r>
            <a:endParaRPr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04176" y="2940546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8285540" y="3512046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Actuation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359675" y="3902571"/>
            <a:ext cx="2965400" cy="719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JGA-25-370 Geared DC motor and high-torque steering servo for precise control.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571500"/>
            <a:ext cx="833104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HARDWARE COMPONENT STACK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7810500" y="5895975"/>
            <a:ext cx="3810000" cy="67627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8001000" y="5991225"/>
            <a:ext cx="3429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Our hardware stack was chosen to balance power and precision. The Pi 5 gives us the headroom for future AI-based planning.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7810500" y="5895975"/>
            <a:ext cx="38100" cy="6762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12826"/>
            <a:ext cx="5334000" cy="2508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4045148"/>
            <a:ext cx="45529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962025" y="3003351"/>
            <a:ext cx="478059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Dead Reckoning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62025" y="3393876"/>
            <a:ext cx="455295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Local position tracking is maintained via Euler integration on the MCU to minimize latency.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477000" y="3106340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Key Features</a:t>
            </a:r>
            <a:endParaRPr/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4900" y="4188023"/>
            <a:ext cx="42672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4900" y="4340423"/>
            <a:ext cx="42672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6829425" y="3516868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858000" y="3515915"/>
            <a:ext cx="47625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High-rate position updates at 100Hz.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829425" y="3756779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858000" y="3755826"/>
            <a:ext cx="47625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Synchronized coordinate frames between Pi and Arduino.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829425" y="3996690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858000" y="3995737"/>
            <a:ext cx="47625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MPU6050 yaw drift compensation via pre-sampled bias thresholds.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71500" y="571500"/>
            <a:ext cx="6930866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LOCAL STATE ESTIMATION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7810500" y="5895975"/>
            <a:ext cx="3810000" cy="67627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8001000" y="5991225"/>
            <a:ext cx="3429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Accurate localization is the foundation of navigation. We use standard dead reckoning formulas updated in real-time.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7810500" y="5895975"/>
            <a:ext cx="38100" cy="6762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7146"/>
            <a:ext cx="11049000" cy="292000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952500" y="2959596"/>
            <a:ext cx="10287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 mitigate sensory noise and chassis vibrations, we implemented first-order low-pass filters: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45343" y="3513832"/>
            <a:ext cx="1050131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Speed &amp; Heading Filter</a:t>
            </a:r>
            <a:endParaRPr/>
          </a:p>
        </p:txBody>
      </p:sp>
      <p:pic>
        <p:nvPicPr>
          <p:cNvPr id="173" name="Google Shape;17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375" y="3828157"/>
            <a:ext cx="10001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1304925" y="4314884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333500" y="4313932"/>
            <a:ext cx="9906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Gyro Scaling: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Calibrated with a 1.0256 factor to correct accumulated yaw drift.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304925" y="4554795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1333500" y="4553842"/>
            <a:ext cx="9906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Encoder Filtering: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0.943 calibration factor handles wheel slip errors.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71500" y="571500"/>
            <a:ext cx="7350918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DIGITAL SIGNAL FILTRATION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7810500" y="6057900"/>
            <a:ext cx="3810000" cy="514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8001000" y="615315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Raw data is often noisy. These filters ensure the control algorithms receive smooth, reliable input.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7810500" y="6057900"/>
            <a:ext cx="38100" cy="5143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65164"/>
            <a:ext cx="3555950" cy="3203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265164"/>
            <a:ext cx="3555950" cy="3203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265164"/>
            <a:ext cx="3555950" cy="3203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560439"/>
            <a:ext cx="29654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792639" y="4132064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Straight Track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66775" y="4522589"/>
            <a:ext cx="29654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Pure longitudinal tracking targeting theta=0 with boundary braking at 10m.</a:t>
            </a:r>
            <a:endParaRPr/>
          </a:p>
        </p:txBody>
      </p:sp>
      <p:pic>
        <p:nvPicPr>
          <p:cNvPr id="193" name="Google Shape;19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13225" y="2560439"/>
            <a:ext cx="29654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4539090" y="4132064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Racing Track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4613225" y="4522589"/>
            <a:ext cx="29654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Predictive lane changes between y = ±0.25m to bypass static hazards.</a:t>
            </a:r>
            <a:endParaRPr/>
          </a:p>
        </p:txBody>
      </p:sp>
      <p:pic>
        <p:nvPicPr>
          <p:cNvPr id="196" name="Google Shape;19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59675" y="2560439"/>
            <a:ext cx="29654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8285540" y="4132064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City Track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359675" y="4522589"/>
            <a:ext cx="29654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22-point dense waypoint circuit with acute corners and varied tangents.</a:t>
            </a:r>
            <a:endParaRPr/>
          </a:p>
        </p:txBody>
      </p:sp>
      <p:pic>
        <p:nvPicPr>
          <p:cNvPr id="199" name="Google Shape;199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58900" y="298906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81538" y="2989064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04176" y="2989064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571500" y="571500"/>
            <a:ext cx="7740967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PATH PLANNING APPROACHES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7810500" y="6057900"/>
            <a:ext cx="3810000" cy="514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8001000" y="615315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Our system was tested across three scenarios, ranging from simple straight lines to complex urban layouts.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7810500" y="6057900"/>
            <a:ext cx="38100" cy="5143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6215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571500" y="287074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Geometric Path Tracking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571500" y="3261270"/>
            <a:ext cx="53340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use a speed-scaled lookahead distance to identify the target coordinate on the trajectory.</a:t>
            </a:r>
            <a:endParaRPr/>
          </a:p>
        </p:txBody>
      </p:sp>
      <p:pic>
        <p:nvPicPr>
          <p:cNvPr id="214" name="Google Shape;21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971675"/>
            <a:ext cx="531495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4055417"/>
            <a:ext cx="5048250" cy="401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4456955"/>
            <a:ext cx="5048250" cy="16832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571500" y="571500"/>
            <a:ext cx="881110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PURE PURSUIT LATERAL CONTROL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7810500" y="6057900"/>
            <a:ext cx="3810000" cy="514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8001000" y="615315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Pure Pursuit allows for smooth steering by aiming for a lookahead point, naturally handling path curvature.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7810500" y="6057900"/>
            <a:ext cx="38100" cy="5143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6" name="Google Shape;226;p21"/>
          <p:cNvGraphicFramePr/>
          <p:nvPr>
            <p:extLst>
              <p:ext uri="{D42A27DB-BD31-4B8C-83A1-F6EECF244321}">
                <p14:modId xmlns:p14="http://schemas.microsoft.com/office/powerpoint/2010/main" val="728297737"/>
              </p:ext>
            </p:extLst>
          </p:nvPr>
        </p:nvGraphicFramePr>
        <p:xfrm>
          <a:off x="571500" y="2896790"/>
          <a:ext cx="11049000" cy="2131200"/>
        </p:xfrm>
        <a:graphic>
          <a:graphicData uri="http://schemas.openxmlformats.org/drawingml/2006/table">
            <a:tbl>
              <a:tblPr firstRow="1" bandRow="1">
                <a:noFill/>
                <a:tableStyleId>{CBF58BD4-5139-4EB5-AB07-4F0D360172F0}</a:tableStyleId>
              </a:tblPr>
              <a:tblGrid>
                <a:gridCol w="226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2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A3E63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Actuator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A3E63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Input Source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A3E63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Control Logic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A3E63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Output Range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DC Motor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Serial (Vel)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Proportional Closed-Loop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PWM 0 - 255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Steering Servo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Serial (Angle)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Exponential Smoothing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45° - 135°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Logic Layer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Filtered IMU/Encoder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BasePWM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+ Error Scaling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Real-time Adjust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7" name="Google Shape;227;p21"/>
          <p:cNvSpPr/>
          <p:nvPr/>
        </p:nvSpPr>
        <p:spPr>
          <a:xfrm>
            <a:off x="571500" y="3943350"/>
            <a:ext cx="22641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835622" y="3943350"/>
            <a:ext cx="29281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5763815" y="3943350"/>
            <a:ext cx="34565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9220348" y="3943350"/>
            <a:ext cx="24001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571500" y="4478535"/>
            <a:ext cx="22641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2835622" y="4478535"/>
            <a:ext cx="29281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763815" y="4478535"/>
            <a:ext cx="34565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9220348" y="4478535"/>
            <a:ext cx="24001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571500" y="5013721"/>
            <a:ext cx="22641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2835622" y="5013721"/>
            <a:ext cx="29281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5763815" y="5013721"/>
            <a:ext cx="34565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9220348" y="5013721"/>
            <a:ext cx="24001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571500" y="571500"/>
            <a:ext cx="737092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ACTUATOR CONTROL LOGIC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7810500" y="6057900"/>
            <a:ext cx="3810000" cy="514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8001000" y="6153150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The Arduino converts high-level commands into precise electrical signals for our motors and servos.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7810500" y="6057900"/>
            <a:ext cx="38100" cy="5143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6286500" y="2780704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Trajectory Stability</a:t>
            </a:r>
            <a:endParaRPr dirty="0"/>
          </a:p>
        </p:txBody>
      </p:sp>
      <p:sp>
        <p:nvSpPr>
          <p:cNvPr id="251" name="Google Shape;251;p22"/>
          <p:cNvSpPr txBox="1"/>
          <p:nvPr/>
        </p:nvSpPr>
        <p:spPr>
          <a:xfrm>
            <a:off x="6286500" y="3171229"/>
            <a:ext cx="5334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city track lap demonstrates excellent cornering management.</a:t>
            </a:r>
            <a:endParaRPr dirty="0"/>
          </a:p>
        </p:txBody>
      </p:sp>
      <p:sp>
        <p:nvSpPr>
          <p:cNvPr id="252" name="Google Shape;252;p22"/>
          <p:cNvSpPr txBox="1"/>
          <p:nvPr/>
        </p:nvSpPr>
        <p:spPr>
          <a:xfrm>
            <a:off x="6638925" y="3602593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6667500" y="3601640"/>
            <a:ext cx="4953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Lap Completion: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100% success rate.</a:t>
            </a:r>
            <a:endParaRPr dirty="0"/>
          </a:p>
        </p:txBody>
      </p:sp>
      <p:sp>
        <p:nvSpPr>
          <p:cNvPr id="254" name="Google Shape;254;p22"/>
          <p:cNvSpPr txBox="1"/>
          <p:nvPr/>
        </p:nvSpPr>
        <p:spPr>
          <a:xfrm>
            <a:off x="6638925" y="3842504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667500" y="3841551"/>
            <a:ext cx="49530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Yaw Accrual: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Continuous accumulation reaching ~360° for a full lap.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6638925" y="4322325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6667500" y="4321373"/>
            <a:ext cx="49530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Velocity: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Maintained a consistent 0.185 m/s despite varied steering loads.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571500" y="571500"/>
            <a:ext cx="1008126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PERFORMANCE ANALYSIS: CITY TRACK</a:t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7810500" y="5895975"/>
            <a:ext cx="3810000" cy="67627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8001000" y="5991225"/>
            <a:ext cx="3429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In our most complex test, the city circuit, the robot maintained a stable speed while accurately rounding sharp corners.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7810500" y="5895975"/>
            <a:ext cx="38100" cy="6762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 txBox="1"/>
          <p:nvPr/>
        </p:nvSpPr>
        <p:spPr>
          <a:xfrm>
            <a:off x="571500" y="5471219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 confirms that the unified stack successfully minimizes errors across all physical environments.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571500" y="571500"/>
            <a:ext cx="897112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EXPERIMENTAL RESULT SUMMARY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7810500" y="5895975"/>
            <a:ext cx="3810000" cy="67627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8001000" y="5991225"/>
            <a:ext cx="3429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Quantitatively, our lateral error remained below 6 centimeters in all cases, which is well within our target safety margins.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7810500" y="5895975"/>
            <a:ext cx="38100" cy="6762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0033"/>
            <a:ext cx="5334000" cy="1824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650033"/>
            <a:ext cx="5334000" cy="182463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571500" y="4855666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you! Any Questions?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866775" y="2945308"/>
            <a:ext cx="498062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Accomplishments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6581775" y="2945308"/>
            <a:ext cx="498062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Next Steps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1219200" y="3308211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1247775" y="3307258"/>
            <a:ext cx="43624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Validated dual-board RPi-Arduino architecture.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1219200" y="3548122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1247775" y="3547169"/>
            <a:ext cx="43624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Successful hazard avoidance and lane shifting.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1219200" y="3788032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1247775" y="3787080"/>
            <a:ext cx="43624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Robust noise filtration for real-world sensing.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6934200" y="3308211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6962775" y="3307258"/>
            <a:ext cx="43624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Migration to Model Predictive Control (MPC).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6934200" y="3548122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6962775" y="3547169"/>
            <a:ext cx="43624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Integration of obstacle detection via LiDAR/Vision.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6934200" y="3788032"/>
            <a:ext cx="2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6962775" y="3787080"/>
            <a:ext cx="436245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Optimization for high-speed volatile environments.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1660445" y="571500"/>
            <a:ext cx="8871108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CONCLUSION &amp; FUTURE OUTLOOK</a:t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>
            <a:off x="7810500" y="5895975"/>
            <a:ext cx="3810000" cy="67627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8001000" y="5991225"/>
            <a:ext cx="3429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In conclusion, we've built a robust platform. Looking ahead, we plan to implement Model Predictive Control to further enhance high-speed stability.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7810500" y="5895975"/>
            <a:ext cx="38100" cy="6762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810</Words>
  <Application>Microsoft Office PowerPoint</Application>
  <PresentationFormat>Widescreen</PresentationFormat>
  <Paragraphs>106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Mostafa Shakweer</cp:lastModifiedBy>
  <cp:revision>1</cp:revision>
  <dcterms:modified xsi:type="dcterms:W3CDTF">2026-05-24T09:28:37Z</dcterms:modified>
</cp:coreProperties>
</file>