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46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897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Comprehensive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Mechatronic Prosthetic Hand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13232" y="2999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</a:rPr>
              <a:t>Bond Graph Modeling &amp; Simulation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345643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5563"/>
                </a:solidFill>
              </a:rPr>
              <a:t>Mechatronics Programming for Real-time Systems (MCTR 1015)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Team 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Bassam Walid 55-0499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Youssef Mohamed 55-1031</a:t>
            </a:r>
            <a:endParaRPr lang="en-US" sz="1500" dirty="0"/>
          </a:p>
        </p:txBody>
      </p:sp>
      <p:pic>
        <p:nvPicPr>
          <p:cNvPr id="7" name="Image 0" descr="/mnt/data/5bd855c9-2acd-4b0f-afd1-423ad68a4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95589"/>
            <a:ext cx="4343400" cy="36382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aim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| 2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1241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Aim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53851"/>
            <a:ext cx="9736756" cy="10698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Build a complete 20-sim Bond Graph model that converts electrical input voltage into motor torque, tendon force, and finger flexion to help in studying prosthetic hand actuation</a:t>
            </a:r>
            <a:r>
              <a:rPr lang="en-US" sz="2000" dirty="0">
                <a:solidFill>
                  <a:srgbClr val="1F2937"/>
                </a:solidFill>
              </a:rPr>
              <a:t>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" y="4698187"/>
            <a:ext cx="1828800" cy="3822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battery voltage input cases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12 V, 7.2 V, 3.7 V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4114800"/>
            <a:ext cx="20116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0.835 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926080" y="4698187"/>
            <a:ext cx="2011680" cy="3822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physical flexion time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from thesis validation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0" y="411480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N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303520" y="4698187"/>
            <a:ext cx="1828800" cy="3822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motor-applied force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used for validation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411480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errors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60920" y="4698187"/>
            <a:ext cx="1828800" cy="3822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final 20-sim model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with 9 warnings</a:t>
            </a:r>
            <a:endParaRPr lang="en-US" sz="1150" dirty="0"/>
          </a:p>
        </p:txBody>
      </p:sp>
      <p:pic>
        <p:nvPicPr>
          <p:cNvPr id="19" name="Image 0" descr="/mnt/data/54b14c13-49d1-4902-9b9d-18a910ce21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089561"/>
            <a:ext cx="2148840" cy="855151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109E9ADF-C62A-76BD-E52F-7640680B4E01}"/>
              </a:ext>
            </a:extLst>
          </p:cNvPr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in 20-sim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3</a:t>
            </a:r>
            <a:endParaRPr lang="en-US" sz="900" dirty="0"/>
          </a:p>
        </p:txBody>
      </p:sp>
      <p:pic>
        <p:nvPicPr>
          <p:cNvPr id="7" name="Image 0" descr="/mnt/data/5bd855c9-2acd-4b0f-afd1-423ad68a4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2288"/>
            <a:ext cx="5852160" cy="49020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143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F1D20"/>
                </a:solidFill>
              </a:rPr>
              <a:t>Energy flow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29400" y="1554480"/>
            <a:ext cx="48006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50" dirty="0">
                <a:solidFill>
                  <a:srgbClr val="1F2937"/>
                </a:solidFill>
              </a:rPr>
              <a:t>Battery voltage is applied as an effort source.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Motors convert electrical effort into rotational mechanical power.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Gearbox and spool transform rotation into tendon pulling motion.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Finger submodels distribute tendon effort to MCP, PIP, and DIP joints.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The thumb has two modeled paths: motor-driven flexion and servo-driven second motion.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629400" y="5138928"/>
            <a:ext cx="4709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1F2937"/>
                </a:solidFill>
              </a:rPr>
              <a:t>The model was simplified around finger flexion because flexion behavior is the main objective of the project.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 submodel: electrical to tendon motion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5</a:t>
            </a:r>
            <a:endParaRPr lang="en-US" sz="900" dirty="0"/>
          </a:p>
        </p:txBody>
      </p:sp>
      <p:pic>
        <p:nvPicPr>
          <p:cNvPr id="7" name="Image 0" descr="/mnt/data/5f363ff5-b0b8-47cd-a0fb-f0973a8c7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8604"/>
            <a:ext cx="6629400" cy="1958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Main elements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1444752"/>
            <a:ext cx="402336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R and L represent motor winding resistance and inductance.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GY element represents the motor torque/back-EMF constant.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Jm and Bm model rotor inertia and mechanical friction.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Gearbox and spool transform motor rotation into tendon pulling motion.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2114" y="44512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Simplification of the motor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62114" y="4811990"/>
            <a:ext cx="10210159" cy="65604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</a:rPr>
              <a:t>All five motors use the same electrical and mechanical motor parameters which were research but some of them were estimated. Improvements can be done where the values could be measured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Finger flexion submodel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6</a:t>
            </a:r>
            <a:endParaRPr lang="en-US" sz="900" dirty="0"/>
          </a:p>
        </p:txBody>
      </p:sp>
      <p:pic>
        <p:nvPicPr>
          <p:cNvPr id="7" name="Image 0" descr="/mnt/data/a2195e04-ba86-44af-9e07-7268a262fb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3278"/>
            <a:ext cx="5577840" cy="38200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0515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F1D20"/>
                </a:solidFill>
              </a:rPr>
              <a:t>Index, middle, ring and pinky fingers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46520" y="1554480"/>
            <a:ext cx="48463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50" dirty="0">
                <a:solidFill>
                  <a:srgbClr val="1F2937"/>
                </a:solidFill>
              </a:rPr>
              <a:t>The tendon input passes through a pulley transformer.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The central 0-junction distributes the tendon motion to the three joints.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MCP, PIP and DIP each include inertia, compliance, and damping.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Output angles are obtained by integrating joint flow at each joint.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446520" y="4343400"/>
            <a:ext cx="4800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i="1" dirty="0">
                <a:solidFill>
                  <a:srgbClr val="1F2937"/>
                </a:solidFill>
              </a:rPr>
              <a:t>Because all non-thumb fingers were given the same parameter values, only one set of finger plots is shown in the results section.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Thumb model: two simplified motion paths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7</a:t>
            </a:r>
            <a:endParaRPr lang="en-US" sz="900" dirty="0"/>
          </a:p>
        </p:txBody>
      </p:sp>
      <p:pic>
        <p:nvPicPr>
          <p:cNvPr id="7" name="Image 0" descr="/mnt/data/5f375910-0883-416e-9d54-f4125462cd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90717"/>
            <a:ext cx="6035040" cy="50137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0" y="10515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9F1D20"/>
                </a:solidFill>
              </a:rPr>
              <a:t>Why the thumb was simplified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858000" y="1481328"/>
            <a:ext cx="44805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30" dirty="0">
                <a:solidFill>
                  <a:srgbClr val="1F2937"/>
                </a:solidFill>
              </a:rPr>
              <a:t>The thumb requires a different motion than the fingers, it was modelled as a 3-joint finger as most prosthetic thumbs only have two degrees of freedom.</a:t>
            </a:r>
            <a:endParaRPr lang="en-US" sz="1630" dirty="0"/>
          </a:p>
          <a:p>
            <a:r>
              <a:rPr lang="en-US" sz="1630" dirty="0">
                <a:solidFill>
                  <a:srgbClr val="1F2937"/>
                </a:solidFill>
              </a:rPr>
              <a:t>The motor path models tendon-driven thumb flexion.</a:t>
            </a:r>
            <a:endParaRPr lang="en-US" sz="1630" dirty="0"/>
          </a:p>
          <a:p>
            <a:r>
              <a:rPr lang="en-US" sz="1630" dirty="0">
                <a:solidFill>
                  <a:srgbClr val="1F2937"/>
                </a:solidFill>
              </a:rPr>
              <a:t>The servo path represents the second thumb angle with inertia, damping, and a limiter</a:t>
            </a:r>
            <a:endParaRPr lang="en-US" sz="1630" dirty="0"/>
          </a:p>
        </p:txBody>
      </p:sp>
      <p:sp>
        <p:nvSpPr>
          <p:cNvPr id="10" name="Text 7"/>
          <p:cNvSpPr/>
          <p:nvPr/>
        </p:nvSpPr>
        <p:spPr>
          <a:xfrm>
            <a:off x="6858000" y="5074920"/>
            <a:ext cx="4389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9F1D20"/>
                </a:solidFill>
              </a:rPr>
              <a:t>Main limitation: the servo second angle flexed in around 40 s and could not be corrected by parameter tuning alone.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equations and selected state-space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5349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The full model is large; therefore, the report presents one  finger submodel.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310705"/>
            <a:ext cx="507492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  |   20-sim definition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   ·   Tendon_k\state = int(Tendon_k\p.f)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   ·   I_MCP\state = int(I_MCP\p.e)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   ·   C_MCP\state = int(C_MCP\p.f)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   ·   I_DIP\state = int(I_DIP\p.e)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   ·   C_DIP\state = int(C_DIP\p.f)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   ·   C_PIP\state = int(C_PIP\p.f)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94360" y="23514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Representative equations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11957" y="2447865"/>
            <a:ext cx="48006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ẋ₁ = u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ẋ₂ = −x₂ − 2/3 x₃ + 1/3 x₅ + 1/3 x₆ + 1/3 u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ẋ₃ = x₂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ẋ₄ = −x₄ + 1/3 x₃ − 2/3 x₅ + 1/3 x₆ + 1/3 u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ẋ₅ = x₄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ẋ₆ = −x₂ − x₄ + u</a:t>
            </a:r>
            <a:endParaRPr lang="en-US" sz="1650" dirty="0"/>
          </a:p>
        </p:txBody>
      </p:sp>
      <p:pic>
        <p:nvPicPr>
          <p:cNvPr id="11" name="Image 0" descr="/mnt/data/54b14c13-49d1-4902-9b9d-18a910ce21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553" y="5024869"/>
            <a:ext cx="2297723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non-thumb finger response at 12 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11</a:t>
            </a:r>
            <a:endParaRPr lang="en-US" sz="900" dirty="0"/>
          </a:p>
        </p:txBody>
      </p:sp>
      <p:pic>
        <p:nvPicPr>
          <p:cNvPr id="7" name="Image 0" descr="/mnt/data/Finger 12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7248"/>
            <a:ext cx="6720840" cy="3272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9F1D20"/>
                </a:solidFill>
              </a:rPr>
              <a:t>Observation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543800" y="2295144"/>
            <a:ext cx="41605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30" dirty="0">
                <a:solidFill>
                  <a:srgbClr val="1F2937"/>
                </a:solidFill>
              </a:rPr>
              <a:t>All three joint angles rise smoothly and settle without oscillation.</a:t>
            </a:r>
            <a:endParaRPr lang="en-US" sz="1630" dirty="0"/>
          </a:p>
          <a:p>
            <a:r>
              <a:rPr lang="en-US" sz="1630" dirty="0">
                <a:solidFill>
                  <a:srgbClr val="1F2937"/>
                </a:solidFill>
              </a:rPr>
              <a:t>The curve shape confirms the effect of the elastic and damping elements.</a:t>
            </a:r>
            <a:endParaRPr lang="en-US" sz="1630" dirty="0"/>
          </a:p>
          <a:p>
            <a:r>
              <a:rPr lang="en-US" sz="1630" dirty="0">
                <a:solidFill>
                  <a:srgbClr val="1F2937"/>
                </a:solidFill>
              </a:rPr>
              <a:t>PIP reaches the largest final angle, followed by MCP and DIP.</a:t>
            </a:r>
            <a:endParaRPr lang="en-US" sz="1630" dirty="0"/>
          </a:p>
          <a:p>
            <a:r>
              <a:rPr lang="en-US" sz="1630" dirty="0">
                <a:solidFill>
                  <a:srgbClr val="1F2937"/>
                </a:solidFill>
              </a:rPr>
              <a:t>The final 12 V response is the closest case to the desired strong gripping behavior.</a:t>
            </a:r>
            <a:endParaRPr lang="en-US" sz="1630" dirty="0"/>
          </a:p>
        </p:txBody>
      </p:sp>
      <p:sp>
        <p:nvSpPr>
          <p:cNvPr id="10" name="Text 7"/>
          <p:cNvSpPr/>
          <p:nvPr/>
        </p:nvSpPr>
        <p:spPr>
          <a:xfrm>
            <a:off x="2606040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B5563"/>
                </a:solidFill>
              </a:rPr>
              <a:t>Displayed joints: DIP, MCP, PIP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effect of battery discharge on finger flexion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F1D20"/>
                </a:solidFill>
              </a:rPr>
              <a:t>12 V</a:t>
            </a:r>
            <a:endParaRPr lang="en-US" sz="1300" dirty="0"/>
          </a:p>
        </p:txBody>
      </p:sp>
      <p:pic>
        <p:nvPicPr>
          <p:cNvPr id="8" name="Image 0" descr="/mnt/data/Finger 12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2169"/>
            <a:ext cx="3611880" cy="17584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43400" y="96012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F1D20"/>
                </a:solidFill>
              </a:rPr>
              <a:t>7.2 V</a:t>
            </a:r>
            <a:endParaRPr lang="en-US" sz="1300" dirty="0"/>
          </a:p>
        </p:txBody>
      </p:sp>
      <p:pic>
        <p:nvPicPr>
          <p:cNvPr id="10" name="Image 1" descr="/mnt/data/Finger 7.2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94706"/>
            <a:ext cx="3611880" cy="16534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96012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F1D20"/>
                </a:solidFill>
              </a:rPr>
              <a:t>3.7 V</a:t>
            </a:r>
            <a:endParaRPr lang="en-US" sz="1300" dirty="0"/>
          </a:p>
        </p:txBody>
      </p:sp>
      <p:pic>
        <p:nvPicPr>
          <p:cNvPr id="12" name="Image 2" descr="/mnt/data/Finger 3.7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295647"/>
            <a:ext cx="3611880" cy="16515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Comparison summary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13232" y="4041648"/>
            <a:ext cx="49377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20" dirty="0">
                <a:solidFill>
                  <a:srgbClr val="1F2937"/>
                </a:solidFill>
              </a:rPr>
              <a:t>Higher battery effort gives higher final joint angles.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Lower charge reduces the effective </a:t>
            </a:r>
            <a:r>
              <a:rPr lang="en-US" sz="1600" dirty="0">
                <a:solidFill>
                  <a:srgbClr val="1F2937"/>
                </a:solidFill>
              </a:rPr>
              <a:t>gripping</a:t>
            </a:r>
            <a:r>
              <a:rPr lang="en-US" sz="1620" dirty="0">
                <a:solidFill>
                  <a:srgbClr val="1F2937"/>
                </a:solidFill>
              </a:rPr>
              <a:t> range.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The response remains stable; the main change is final flexion amplitude.</a:t>
            </a:r>
            <a:endParaRPr lang="en-US" sz="1620" dirty="0"/>
          </a:p>
        </p:txBody>
      </p:sp>
      <p:sp>
        <p:nvSpPr>
          <p:cNvPr id="15" name="Text 10"/>
          <p:cNvSpPr/>
          <p:nvPr/>
        </p:nvSpPr>
        <p:spPr>
          <a:xfrm>
            <a:off x="63322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1D20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32220" y="3931920"/>
            <a:ext cx="48920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The model captures a practical prosthetic-hand issue: as the battery loses charge, the same command no longer produces the same tendon force, and the finger cannot grip as strongly.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thumb motor-driven flexion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13</a:t>
            </a:r>
            <a:endParaRPr lang="en-US" sz="900" dirty="0"/>
          </a:p>
        </p:txBody>
      </p:sp>
      <p:pic>
        <p:nvPicPr>
          <p:cNvPr id="7" name="Image 0" descr="/mnt/data/Thumb Motor Angle 12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9054"/>
            <a:ext cx="4983480" cy="2345333"/>
          </a:xfrm>
          <a:prstGeom prst="rect">
            <a:avLst/>
          </a:prstGeom>
        </p:spPr>
      </p:pic>
      <p:pic>
        <p:nvPicPr>
          <p:cNvPr id="8" name="Image 1" descr="/mnt/data/Thumb Motor Angle 7.2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46" y="960120"/>
            <a:ext cx="4982187" cy="2743200"/>
          </a:xfrm>
          <a:prstGeom prst="rect">
            <a:avLst/>
          </a:prstGeom>
        </p:spPr>
      </p:pic>
      <p:pic>
        <p:nvPicPr>
          <p:cNvPr id="9" name="Image 2" descr="/mnt/data/Thumb Motor Angle 3.7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22" y="4160520"/>
            <a:ext cx="4308916" cy="1508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7880" y="4507992"/>
            <a:ext cx="49834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The thumb motor path behaves similarly to the fingers: higher input voltage increases final flexion and produces a faster, stronger response.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statement: thumb servo second angle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14</a:t>
            </a:r>
            <a:endParaRPr lang="en-US" sz="900" dirty="0"/>
          </a:p>
        </p:txBody>
      </p:sp>
      <p:pic>
        <p:nvPicPr>
          <p:cNvPr id="7" name="Image 0" descr="/mnt/data/Thumb Servo Angle 12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4" y="960120"/>
            <a:ext cx="4747451" cy="2926080"/>
          </a:xfrm>
          <a:prstGeom prst="rect">
            <a:avLst/>
          </a:prstGeom>
        </p:spPr>
      </p:pic>
      <p:pic>
        <p:nvPicPr>
          <p:cNvPr id="8" name="Image 1" descr="/mnt/data/Thumb Servo Angle 7.2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274272"/>
            <a:ext cx="4892040" cy="2297776"/>
          </a:xfrm>
          <a:prstGeom prst="rect">
            <a:avLst/>
          </a:prstGeom>
        </p:spPr>
      </p:pic>
      <p:pic>
        <p:nvPicPr>
          <p:cNvPr id="9" name="Image 2" descr="/mnt/data/Thumb Servo Angle 3.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853" y="4251960"/>
            <a:ext cx="3052173" cy="1508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78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9F1D20"/>
                </a:solidFill>
              </a:rPr>
              <a:t>Issue found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897880" y="4526280"/>
            <a:ext cx="49377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r>
              <a:rPr lang="en-US" sz="1560" dirty="0">
                <a:solidFill>
                  <a:srgbClr val="1F2937"/>
                </a:solidFill>
              </a:rPr>
              <a:t>The second thumb angle responded much slower than the other joints.</a:t>
            </a:r>
            <a:endParaRPr lang="en-US" sz="1560" dirty="0"/>
          </a:p>
          <a:p>
            <a:r>
              <a:rPr lang="en-US" sz="1560" dirty="0">
                <a:solidFill>
                  <a:srgbClr val="1F2937"/>
                </a:solidFill>
              </a:rPr>
              <a:t>At low voltage it needed around 40s to reach a significant angle.</a:t>
            </a:r>
            <a:endParaRPr lang="en-US" sz="1560" dirty="0"/>
          </a:p>
          <a:p>
            <a:r>
              <a:rPr lang="en-US" sz="1560" dirty="0">
                <a:solidFill>
                  <a:srgbClr val="1F2937"/>
                </a:solidFill>
              </a:rPr>
              <a:t>Changing the available parameters did not solve this response in a physically meaningful way.</a:t>
            </a:r>
            <a:endParaRPr lang="en-US" sz="1560" dirty="0"/>
          </a:p>
          <a:p>
            <a:r>
              <a:rPr lang="en-US" sz="1560" dirty="0">
                <a:solidFill>
                  <a:srgbClr val="1F2937"/>
                </a:solidFill>
              </a:rPr>
              <a:t>This issue is reported as the main remaining model limitation.</a:t>
            </a:r>
            <a:endParaRPr lang="en-US" sz="1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Validation, discussion and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B5563"/>
                </a:solidFill>
              </a:rPr>
              <a:t>Bond Graph Prosthetic Hand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051560" cy="54864"/>
          </a:xfrm>
          <a:prstGeom prst="rect">
            <a:avLst/>
          </a:prstGeom>
          <a:solidFill>
            <a:srgbClr val="9F1D20"/>
          </a:solidFill>
          <a:ln w="12700">
            <a:solidFill>
              <a:srgbClr val="9F1D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Team 5  |  MCTR 1015  | 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27432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1813255"/>
            <a:ext cx="2743200" cy="469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force applied by the motor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in bachelor thesis validation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03320" y="1097280"/>
            <a:ext cx="27432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0.835 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03320" y="1813255"/>
            <a:ext cx="2743200" cy="469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measured real-hand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flexion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29400" y="1097280"/>
            <a:ext cx="274320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V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29400" y="1813255"/>
            <a:ext cx="2743200" cy="469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closest strong-grip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simulation case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9F1D20"/>
                </a:solidFill>
              </a:rPr>
              <a:t>Validation method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77240" y="3364992"/>
            <a:ext cx="49377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20" dirty="0">
                <a:solidFill>
                  <a:srgbClr val="1F2937"/>
                </a:solidFill>
              </a:rPr>
              <a:t>Compare simulated joint-angle response with the physical prosthetic hand flexion test.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Use rise time, settling time and final angle as the main comparison points.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The simulated response is stable and reaches flexion in the same general time range.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9F1D20"/>
                </a:solidFill>
              </a:rPr>
              <a:t>Conclusion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400800" y="3319272"/>
            <a:ext cx="4800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20" dirty="0">
                <a:solidFill>
                  <a:srgbClr val="1F2937"/>
                </a:solidFill>
              </a:rPr>
              <a:t>The model successfully represents motor-driven tendon flexion of the fingers.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Battery discharge clearly reduces gripping capability.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The main remaining improvement is replacing the simplified servo second-angle model with a more realistic servo-control representation.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1112</Words>
  <Application>Microsoft Office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German University in Cairo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Mechatronic Prosthetic Hand</dc:title>
  <dc:subject>Bond Graph Prosthetic Hand Milestone 3</dc:subject>
  <dc:creator>Team 5</dc:creator>
  <cp:lastModifiedBy>Bassam Walid</cp:lastModifiedBy>
  <cp:revision>2</cp:revision>
  <dcterms:created xsi:type="dcterms:W3CDTF">2026-05-18T20:36:15Z</dcterms:created>
  <dcterms:modified xsi:type="dcterms:W3CDTF">2026-05-18T21:14:14Z</dcterms:modified>
</cp:coreProperties>
</file>